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3425A5E-2B58-4D1C-9DD3-7723551381EF}" type="slidenum"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[0:00-0:15] Presentar al equipo y el objetivo: mostrar el prototipo funcional y pedir feedback concreto en 5 minutos.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2AA917E-A7AF-47C3-9E67-3CB38445252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[0:15-0:55] El problema y para quién. Severity &gt;= 3 = mayor impacto en el tráfico. Source1 y Source2 etiquetan distinto: por eso la fuente es un filtro del prototipo.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A25A2E2-C6F4-442D-B7B2-FFA12C2BC77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[0:55-1:25] Ser honestos: T1 y T2 cubiertas, T3 a medias, T4 y T5 son lo que falta para la semana 12.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9D483BE-3490-4C33-A689-35181143441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[1:25-2:25] DEMO EN VIVO (run_server.bat). Ruta: USA -&gt; clic en California -&gt; totales y RadViz -&gt; clic en Los Angeles -&gt; abrir el reloj y elegir horas pico -&gt; dibujar un lazo. Si falla internet o Mapbox, quedarse en estas capturas.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50B0897-3823-4B91-B197-4C8BC4A7657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[2:25-2:55] Si no se vio en la demo: el reloj y el lazo. En CA hay picos a las 7 y a las 17 entre semana y casi nada el fin de semana (conteos de la muestra, no tasas).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1C4E5D5-773C-45AC-AF7F-E2FBFA81DD0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[2:55-3:55] Contar 2 o 3 decisiones: Source como filtro, proporción en vez de conteo, reloj radial. Las tres primeras filas salen del PrototypeReport; principio general: panorama primero, detalle después (USA -&gt; estado -&gt; condado -&gt; ciudad).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4FD3818-BCDC-4444-98DF-B9409FFA5D6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[3:55-4:20] Lo que falta está planificado: T4, T5, despliegue e historia guiada para la semana 12.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E338B2C-1678-44AA-A611-1B7C516D9F8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[4:20-5:00] Leer las preguntas y abrir la ronda de feedback con el formato I like / I wish / What if.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B199FBA-0719-4B4A-A499-E5D7A3831F3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C72947D-D790-4D3A-82D8-E348CFC2CF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7DFD6D2-B223-4E7B-B5AA-3A1D8921B7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D52EE48-E134-4077-89B8-3BCF9CB3E1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6DFD8E7-DB49-4ED8-B9AB-B8414D7158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A7908D1-A4B8-4685-92E5-94DABEF0B3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34E7B3A-D873-45E3-886E-24568F9B6D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1117089-F16C-4513-A884-E8D7D591BE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50E8436-8F9D-4277-8EB8-F7061D09FB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586660C-3339-435D-89C5-034E886D2F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CC0428C-29AB-41F7-8D7E-EB341C3C32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C3852C3-3473-441E-8DE8-B14E725F18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E7E3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0"/>
            <a:ext cx="3291120" cy="6857280"/>
          </a:xfrm>
          <a:prstGeom prst="rect">
            <a:avLst/>
          </a:prstGeom>
          <a:solidFill>
            <a:srgbClr val="F259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0" y="0"/>
            <a:ext cx="12191040" cy="410760"/>
          </a:xfrm>
          <a:prstGeom prst="rect">
            <a:avLst/>
          </a:prstGeom>
          <a:solidFill>
            <a:srgbClr val="E2F9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Rounded Rectangle 4"/>
          <p:cNvSpPr/>
          <p:nvPr/>
        </p:nvSpPr>
        <p:spPr>
          <a:xfrm>
            <a:off x="411480" y="109800"/>
            <a:ext cx="191160" cy="191160"/>
          </a:xfrm>
          <a:prstGeom prst="roundRect">
            <a:avLst>
              <a:gd name="adj" fmla="val 14285"/>
            </a:avLst>
          </a:prstGeom>
          <a:solidFill>
            <a:srgbClr val="14141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713160" y="8244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VIZU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3840480" y="1097280"/>
            <a:ext cx="7863120" cy="28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141414"/>
                </a:solidFill>
                <a:effectLst/>
                <a:uFillTx/>
                <a:latin typeface="Arial Black"/>
              </a:rPr>
              <a:t>ACCIDENTES DE TRÁNSITO EN USA (2016–2023)</a:t>
            </a: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3840480" y="3931920"/>
            <a:ext cx="7863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2000" b="1" u="none" strike="noStrike">
                <a:solidFill>
                  <a:srgbClr val="7C3AED"/>
                </a:solidFill>
                <a:effectLst/>
                <a:uFillTx/>
                <a:latin typeface="Arial"/>
              </a:rPr>
              <a:t>Patrones de los accidentes de mayor impacto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2000" b="1" u="none" strike="noStrike">
                <a:solidFill>
                  <a:srgbClr val="7C3AED"/>
                </a:solidFill>
                <a:effectLst/>
                <a:uFillTx/>
                <a:latin typeface="Arial"/>
              </a:rPr>
              <a:t>Design review · Semana 10 · Prototipo VIZU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3840480" y="5074920"/>
            <a:ext cx="7863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Angel Tito Berrocal · Gianella Lira Ñaupari · Gady Enciso Gomez · Oscar Alonso Gomez Marin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DS-5343 Visualización de Datos · UTEC 2026-2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411480" y="4434840"/>
            <a:ext cx="27424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7,7 M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411480" y="5303520"/>
            <a:ext cx="25596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accidentes, explorables en el navegador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12191040" cy="410760"/>
          </a:xfrm>
          <a:prstGeom prst="rect">
            <a:avLst/>
          </a:prstGeom>
          <a:solidFill>
            <a:srgbClr val="E7E3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ounded Rectangle 2"/>
          <p:cNvSpPr/>
          <p:nvPr/>
        </p:nvSpPr>
        <p:spPr>
          <a:xfrm>
            <a:off x="411480" y="109800"/>
            <a:ext cx="191160" cy="191160"/>
          </a:xfrm>
          <a:prstGeom prst="roundRect">
            <a:avLst>
              <a:gd name="adj" fmla="val 14285"/>
            </a:avLst>
          </a:prstGeom>
          <a:solidFill>
            <a:srgbClr val="14141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713160" y="8244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VIZU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5760720" y="91440"/>
            <a:ext cx="6015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5"/>
          <p:cNvSpPr/>
          <p:nvPr/>
        </p:nvSpPr>
        <p:spPr>
          <a:xfrm>
            <a:off x="0" y="411480"/>
            <a:ext cx="12191040" cy="913680"/>
          </a:xfrm>
          <a:prstGeom prst="rect">
            <a:avLst/>
          </a:prstGeom>
          <a:solidFill>
            <a:srgbClr val="E2F9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411480" y="411480"/>
            <a:ext cx="113378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1414"/>
                </a:solidFill>
                <a:effectLst/>
                <a:uFillTx/>
                <a:latin typeface="Arial Black"/>
              </a:rPr>
              <a:t>PROBLEMA Y AUDIENCIA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7"/>
          <p:cNvSpPr/>
          <p:nvPr/>
        </p:nvSpPr>
        <p:spPr>
          <a:xfrm>
            <a:off x="457200" y="1600200"/>
            <a:ext cx="658296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¿Dónde y cuándo se concentran los accidentes de mayor impacto en Estados Unidos, y bajo qué condiciones?</a:t>
            </a:r>
            <a:endParaRPr lang="es-MX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8"/>
          <p:cNvSpPr/>
          <p:nvPr/>
        </p:nvSpPr>
        <p:spPr>
          <a:xfrm>
            <a:off x="457200" y="2834640"/>
            <a:ext cx="658296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55960" indent="-255960" defTabSz="457200">
              <a:lnSpc>
                <a:spcPct val="100000"/>
              </a:lnSpc>
              <a:spcAft>
                <a:spcPts val="799"/>
              </a:spcAft>
              <a:buClr>
                <a:srgbClr val="14141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Mayor impacto = Severity ≥ 3: la severidad mide el efecto del accidente sobre el tráfico.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5960" indent="-255960" defTabSz="457200">
              <a:lnSpc>
                <a:spcPct val="100000"/>
              </a:lnSpc>
              <a:spcAft>
                <a:spcPts val="799"/>
              </a:spcAft>
              <a:buClr>
                <a:srgbClr val="14141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La fuente del dato (Source1, Source2…) es una variable de control: cada proveedor etiqueta la severidad con su propio criterio.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9"/>
          <p:cNvSpPr/>
          <p:nvPr/>
        </p:nvSpPr>
        <p:spPr>
          <a:xfrm>
            <a:off x="457200" y="4526280"/>
            <a:ext cx="2056680" cy="1508040"/>
          </a:xfrm>
          <a:prstGeom prst="roundRect">
            <a:avLst>
              <a:gd name="adj" fmla="val 7272"/>
            </a:avLst>
          </a:prstGeom>
          <a:solidFill>
            <a:srgbClr val="E7E3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0"/>
          <p:cNvSpPr/>
          <p:nvPr/>
        </p:nvSpPr>
        <p:spPr>
          <a:xfrm>
            <a:off x="640080" y="4709160"/>
            <a:ext cx="1782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41414"/>
                </a:solidFill>
                <a:effectLst/>
                <a:uFillTx/>
                <a:latin typeface="Arial Black"/>
              </a:rPr>
              <a:t>7 728 394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1"/>
          <p:cNvSpPr/>
          <p:nvPr/>
        </p:nvSpPr>
        <p:spPr>
          <a:xfrm>
            <a:off x="640080" y="5394960"/>
            <a:ext cx="1782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accidentes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2"/>
          <p:cNvSpPr/>
          <p:nvPr/>
        </p:nvSpPr>
        <p:spPr>
          <a:xfrm>
            <a:off x="2697480" y="4526280"/>
            <a:ext cx="2056680" cy="1508040"/>
          </a:xfrm>
          <a:prstGeom prst="roundRect">
            <a:avLst>
              <a:gd name="adj" fmla="val 7272"/>
            </a:avLst>
          </a:prstGeom>
          <a:solidFill>
            <a:srgbClr val="E7E3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13"/>
          <p:cNvSpPr/>
          <p:nvPr/>
        </p:nvSpPr>
        <p:spPr>
          <a:xfrm>
            <a:off x="2880360" y="4709160"/>
            <a:ext cx="1782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41414"/>
                </a:solidFill>
                <a:effectLst/>
                <a:uFillTx/>
                <a:latin typeface="Arial Black"/>
              </a:rPr>
              <a:t>49</a:t>
            </a:r>
            <a:endParaRPr lang="es-MX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4"/>
          <p:cNvSpPr/>
          <p:nvPr/>
        </p:nvSpPr>
        <p:spPr>
          <a:xfrm>
            <a:off x="2880360" y="5394960"/>
            <a:ext cx="1782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estados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15"/>
          <p:cNvSpPr/>
          <p:nvPr/>
        </p:nvSpPr>
        <p:spPr>
          <a:xfrm>
            <a:off x="4937760" y="4526280"/>
            <a:ext cx="2056680" cy="1508040"/>
          </a:xfrm>
          <a:prstGeom prst="roundRect">
            <a:avLst>
              <a:gd name="adj" fmla="val 7272"/>
            </a:avLst>
          </a:prstGeom>
          <a:solidFill>
            <a:srgbClr val="E7E3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16"/>
          <p:cNvSpPr/>
          <p:nvPr/>
        </p:nvSpPr>
        <p:spPr>
          <a:xfrm>
            <a:off x="5120640" y="4709160"/>
            <a:ext cx="1782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41414"/>
                </a:solidFill>
                <a:effectLst/>
                <a:uFillTx/>
                <a:latin typeface="Arial Black"/>
              </a:rPr>
              <a:t>2016–2023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7"/>
          <p:cNvSpPr/>
          <p:nvPr/>
        </p:nvSpPr>
        <p:spPr>
          <a:xfrm>
            <a:off x="5120640" y="5394960"/>
            <a:ext cx="1782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feb 2016 a mar 2023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18"/>
          <p:cNvSpPr/>
          <p:nvPr/>
        </p:nvSpPr>
        <p:spPr>
          <a:xfrm>
            <a:off x="7589520" y="1691640"/>
            <a:ext cx="4159800" cy="1645200"/>
          </a:xfrm>
          <a:prstGeom prst="roundRect">
            <a:avLst>
              <a:gd name="adj" fmla="val 6666"/>
            </a:avLst>
          </a:prstGeom>
          <a:solidFill>
            <a:srgbClr val="F4F2FD"/>
          </a:solidFill>
          <a:ln>
            <a:solidFill>
              <a:srgbClr val="E7E3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Oval 19"/>
          <p:cNvSpPr/>
          <p:nvPr/>
        </p:nvSpPr>
        <p:spPr>
          <a:xfrm>
            <a:off x="7818120" y="1965960"/>
            <a:ext cx="639360" cy="639360"/>
          </a:xfrm>
          <a:prstGeom prst="ellipse">
            <a:avLst/>
          </a:prstGeom>
          <a:solidFill>
            <a:srgbClr val="F259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20"/>
          <p:cNvSpPr/>
          <p:nvPr/>
        </p:nvSpPr>
        <p:spPr>
          <a:xfrm>
            <a:off x="7818120" y="196596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1"/>
          <p:cNvSpPr/>
          <p:nvPr/>
        </p:nvSpPr>
        <p:spPr>
          <a:xfrm>
            <a:off x="8641080" y="1920240"/>
            <a:ext cx="2971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Audiencia principal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2"/>
          <p:cNvSpPr/>
          <p:nvPr/>
        </p:nvSpPr>
        <p:spPr>
          <a:xfrm>
            <a:off x="8641080" y="2313360"/>
            <a:ext cx="29710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Analistas de seguridad vial y equipos de planificación urbana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23"/>
          <p:cNvSpPr/>
          <p:nvPr/>
        </p:nvSpPr>
        <p:spPr>
          <a:xfrm>
            <a:off x="7589520" y="3566160"/>
            <a:ext cx="4159800" cy="1645200"/>
          </a:xfrm>
          <a:prstGeom prst="roundRect">
            <a:avLst>
              <a:gd name="adj" fmla="val 6666"/>
            </a:avLst>
          </a:prstGeom>
          <a:solidFill>
            <a:srgbClr val="F4F2FD"/>
          </a:solidFill>
          <a:ln>
            <a:solidFill>
              <a:srgbClr val="E7E3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Oval 24"/>
          <p:cNvSpPr/>
          <p:nvPr/>
        </p:nvSpPr>
        <p:spPr>
          <a:xfrm>
            <a:off x="7818120" y="3840480"/>
            <a:ext cx="639360" cy="639360"/>
          </a:xfrm>
          <a:prstGeom prst="ellipse">
            <a:avLst/>
          </a:prstGeom>
          <a:solidFill>
            <a:srgbClr val="F259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25"/>
          <p:cNvSpPr/>
          <p:nvPr/>
        </p:nvSpPr>
        <p:spPr>
          <a:xfrm>
            <a:off x="7818120" y="384048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B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6"/>
          <p:cNvSpPr/>
          <p:nvPr/>
        </p:nvSpPr>
        <p:spPr>
          <a:xfrm>
            <a:off x="8641080" y="3794760"/>
            <a:ext cx="2971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Audiencia secundaria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27"/>
          <p:cNvSpPr/>
          <p:nvPr/>
        </p:nvSpPr>
        <p:spPr>
          <a:xfrm>
            <a:off x="8641080" y="4187880"/>
            <a:ext cx="29710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Investigadores, estudiantes y equipos de datos que usan datos abiertos de accidentes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8"/>
          <p:cNvSpPr/>
          <p:nvPr/>
        </p:nvSpPr>
        <p:spPr>
          <a:xfrm>
            <a:off x="7589520" y="5486400"/>
            <a:ext cx="41598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/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9"/>
          <p:cNvSpPr/>
          <p:nvPr/>
        </p:nvSpPr>
        <p:spPr>
          <a:xfrm>
            <a:off x="1133856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2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0"/>
            <a:ext cx="12191040" cy="410760"/>
          </a:xfrm>
          <a:prstGeom prst="rect">
            <a:avLst/>
          </a:prstGeom>
          <a:solidFill>
            <a:srgbClr val="E7E3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ounded Rectangle 2"/>
          <p:cNvSpPr/>
          <p:nvPr/>
        </p:nvSpPr>
        <p:spPr>
          <a:xfrm>
            <a:off x="411480" y="109800"/>
            <a:ext cx="191160" cy="191160"/>
          </a:xfrm>
          <a:prstGeom prst="roundRect">
            <a:avLst>
              <a:gd name="adj" fmla="val 14285"/>
            </a:avLst>
          </a:prstGeom>
          <a:solidFill>
            <a:srgbClr val="14141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3"/>
          <p:cNvSpPr/>
          <p:nvPr/>
        </p:nvSpPr>
        <p:spPr>
          <a:xfrm>
            <a:off x="713160" y="8244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VIZU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4"/>
          <p:cNvSpPr/>
          <p:nvPr/>
        </p:nvSpPr>
        <p:spPr>
          <a:xfrm>
            <a:off x="5760720" y="91440"/>
            <a:ext cx="6015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5"/>
          <p:cNvSpPr/>
          <p:nvPr/>
        </p:nvSpPr>
        <p:spPr>
          <a:xfrm>
            <a:off x="0" y="411480"/>
            <a:ext cx="12191040" cy="913680"/>
          </a:xfrm>
          <a:prstGeom prst="rect">
            <a:avLst/>
          </a:prstGeom>
          <a:solidFill>
            <a:srgbClr val="E2F9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6"/>
          <p:cNvSpPr/>
          <p:nvPr/>
        </p:nvSpPr>
        <p:spPr>
          <a:xfrm>
            <a:off x="411480" y="411480"/>
            <a:ext cx="113378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1414"/>
                </a:solidFill>
                <a:effectLst/>
                <a:uFillTx/>
                <a:latin typeface="Arial Black"/>
              </a:rPr>
              <a:t>LAS 5 PREGUNTAS Y QUÉ CUBRE EL PROTOTIPO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2" name="Table 7"/>
          <p:cNvGraphicFramePr/>
          <p:nvPr/>
        </p:nvGraphicFramePr>
        <p:xfrm>
          <a:off x="457200" y="1645920"/>
          <a:ext cx="11274120" cy="3886200"/>
        </p:xfrm>
        <a:graphic>
          <a:graphicData uri="http://schemas.openxmlformats.org/drawingml/2006/table">
            <a:tbl>
              <a:tblPr/>
              <a:tblGrid>
                <a:gridCol w="640080"/>
                <a:gridCol w="4846320"/>
                <a:gridCol w="4507920"/>
                <a:gridCol w="128016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/>
                      <a:endParaRPr lang="es-MX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Pregunta</a:t>
                      </a:r>
                      <a:endParaRPr lang="es-MX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Vista del prototipo</a:t>
                      </a:r>
                      <a:endParaRPr lang="es-MX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Estado</a:t>
                      </a:r>
                      <a:endParaRPr lang="es-MX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</a:tr>
              <a:tr h="6858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T1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¿Dónde y en qué periodos se concentran, y cómo cambia según la fuente?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Mapa coroplético por proporción + filtros de fuente y año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Sí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E2F98C"/>
                    </a:solidFill>
                  </a:tcPr>
                </a:tc>
              </a:tr>
              <a:tr h="6858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T2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¿Qué condiciones climáticas los caracterizan?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RadViz de 6 variables climáticas (D3)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Sí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E2F98C"/>
                    </a:solidFill>
                  </a:tcPr>
                </a:tc>
              </a:tr>
              <a:tr h="6858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T3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¿Cómo varían según la hora y el día?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Reloj de 24 h + líneas lunes–viernes vs. fin de semana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Parcial</a:t>
                      </a:r>
                      <a:endParaRPr lang="es-MX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7C3AED"/>
                    </a:solidFill>
                  </a:tcPr>
                </a:tc>
              </a:tr>
              <a:tr h="6858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T4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¿Qué infraestructura vial aparece con más frecuencia?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Aún sin vista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No</a:t>
                      </a:r>
                      <a:endParaRPr lang="es-MX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2592A"/>
                    </a:solidFill>
                  </a:tcPr>
                </a:tc>
              </a:tr>
              <a:tr h="6858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T5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¿Qué diferencias hay entre dos regiones comparables?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Aún sin vista: se explora un área a la vez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No</a:t>
                      </a:r>
                      <a:endParaRPr lang="es-MX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2592A"/>
                    </a:solidFill>
                  </a:tcPr>
                </a:tc>
              </a:tr>
            </a:tbl>
          </a:graphicData>
        </a:graphic>
      </p:graphicFrame>
      <p:sp>
        <p:nvSpPr>
          <p:cNvPr id="113" name="TextBox 8"/>
          <p:cNvSpPr/>
          <p:nvPr/>
        </p:nvSpPr>
        <p:spPr>
          <a:xfrm>
            <a:off x="457200" y="5852160"/>
            <a:ext cx="11246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T3 es parcial: agrupa lunes–viernes frente a sábado–domingo, no cada día por separado.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9"/>
          <p:cNvSpPr/>
          <p:nvPr/>
        </p:nvSpPr>
        <p:spPr>
          <a:xfrm>
            <a:off x="1133856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3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0"/>
            <a:ext cx="12191040" cy="410760"/>
          </a:xfrm>
          <a:prstGeom prst="rect">
            <a:avLst/>
          </a:prstGeom>
          <a:solidFill>
            <a:srgbClr val="E7E3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ounded Rectangle 2"/>
          <p:cNvSpPr/>
          <p:nvPr/>
        </p:nvSpPr>
        <p:spPr>
          <a:xfrm>
            <a:off x="411480" y="109800"/>
            <a:ext cx="191160" cy="191160"/>
          </a:xfrm>
          <a:prstGeom prst="roundRect">
            <a:avLst>
              <a:gd name="adj" fmla="val 14285"/>
            </a:avLst>
          </a:prstGeom>
          <a:solidFill>
            <a:srgbClr val="14141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713160" y="8244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VIZU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5760720" y="91440"/>
            <a:ext cx="6015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5"/>
          <p:cNvSpPr/>
          <p:nvPr/>
        </p:nvSpPr>
        <p:spPr>
          <a:xfrm>
            <a:off x="0" y="411480"/>
            <a:ext cx="12191040" cy="913680"/>
          </a:xfrm>
          <a:prstGeom prst="rect">
            <a:avLst/>
          </a:prstGeom>
          <a:solidFill>
            <a:srgbClr val="E2F9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6"/>
          <p:cNvSpPr/>
          <p:nvPr/>
        </p:nvSpPr>
        <p:spPr>
          <a:xfrm>
            <a:off x="411480" y="411480"/>
            <a:ext cx="113378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1414"/>
                </a:solidFill>
                <a:effectLst/>
                <a:uFillTx/>
                <a:latin typeface="Arial Black"/>
              </a:rPr>
              <a:t>DEMO · VISTA ESTADO (CALIFORNIA)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Picture 7" descr="Prototipo VIZU en California: mapa con accidentes coloreados por severidad, totales del área y RadViz climático"/>
          <p:cNvPicPr/>
          <p:nvPr/>
        </p:nvPicPr>
        <p:blipFill>
          <a:blip r:embed="rId1"/>
          <a:stretch/>
        </p:blipFill>
        <p:spPr>
          <a:xfrm>
            <a:off x="457200" y="1554480"/>
            <a:ext cx="7588800" cy="511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Oval 8"/>
          <p:cNvSpPr/>
          <p:nvPr/>
        </p:nvSpPr>
        <p:spPr>
          <a:xfrm>
            <a:off x="685800" y="2103120"/>
            <a:ext cx="383400" cy="383400"/>
          </a:xfrm>
          <a:prstGeom prst="ellipse">
            <a:avLst/>
          </a:prstGeom>
          <a:solidFill>
            <a:srgbClr val="F2592A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9"/>
          <p:cNvSpPr/>
          <p:nvPr/>
        </p:nvSpPr>
        <p:spPr>
          <a:xfrm>
            <a:off x="685800" y="210312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Oval 10"/>
          <p:cNvSpPr/>
          <p:nvPr/>
        </p:nvSpPr>
        <p:spPr>
          <a:xfrm>
            <a:off x="7543800" y="2240280"/>
            <a:ext cx="383400" cy="383400"/>
          </a:xfrm>
          <a:prstGeom prst="ellipse">
            <a:avLst/>
          </a:prstGeom>
          <a:solidFill>
            <a:srgbClr val="F2592A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11"/>
          <p:cNvSpPr/>
          <p:nvPr/>
        </p:nvSpPr>
        <p:spPr>
          <a:xfrm>
            <a:off x="7543800" y="22402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Oval 12"/>
          <p:cNvSpPr/>
          <p:nvPr/>
        </p:nvSpPr>
        <p:spPr>
          <a:xfrm>
            <a:off x="7543800" y="3611880"/>
            <a:ext cx="383400" cy="383400"/>
          </a:xfrm>
          <a:prstGeom prst="ellipse">
            <a:avLst/>
          </a:prstGeom>
          <a:solidFill>
            <a:srgbClr val="F2592A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13"/>
          <p:cNvSpPr/>
          <p:nvPr/>
        </p:nvSpPr>
        <p:spPr>
          <a:xfrm>
            <a:off x="7543800" y="36118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Oval 14"/>
          <p:cNvSpPr/>
          <p:nvPr/>
        </p:nvSpPr>
        <p:spPr>
          <a:xfrm>
            <a:off x="8366760" y="1600200"/>
            <a:ext cx="383400" cy="383400"/>
          </a:xfrm>
          <a:prstGeom prst="ellipse">
            <a:avLst/>
          </a:prstGeom>
          <a:solidFill>
            <a:srgbClr val="F2592A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15"/>
          <p:cNvSpPr/>
          <p:nvPr/>
        </p:nvSpPr>
        <p:spPr>
          <a:xfrm>
            <a:off x="8366760" y="160020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6"/>
          <p:cNvSpPr/>
          <p:nvPr/>
        </p:nvSpPr>
        <p:spPr>
          <a:xfrm>
            <a:off x="8915400" y="1627560"/>
            <a:ext cx="2833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Mapa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7"/>
          <p:cNvSpPr/>
          <p:nvPr/>
        </p:nvSpPr>
        <p:spPr>
          <a:xfrm>
            <a:off x="8915400" y="2030040"/>
            <a:ext cx="28339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Mapbox + deck.gl. Cada punto es un accidente de la muestra; el color es la severidad. Clic en un condado para bajar de nivel.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Oval 18"/>
          <p:cNvSpPr/>
          <p:nvPr/>
        </p:nvSpPr>
        <p:spPr>
          <a:xfrm>
            <a:off x="8366760" y="3200400"/>
            <a:ext cx="383400" cy="383400"/>
          </a:xfrm>
          <a:prstGeom prst="ellipse">
            <a:avLst/>
          </a:prstGeom>
          <a:solidFill>
            <a:srgbClr val="F2592A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19"/>
          <p:cNvSpPr/>
          <p:nvPr/>
        </p:nvSpPr>
        <p:spPr>
          <a:xfrm>
            <a:off x="8366760" y="320040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20"/>
          <p:cNvSpPr/>
          <p:nvPr/>
        </p:nvSpPr>
        <p:spPr>
          <a:xfrm>
            <a:off x="8915400" y="3227760"/>
            <a:ext cx="2833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Totales del área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21"/>
          <p:cNvSpPr/>
          <p:nvPr/>
        </p:nvSpPr>
        <p:spPr>
          <a:xfrm>
            <a:off x="8915400" y="3630240"/>
            <a:ext cx="28339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Del conjunto completo: 1 741 433 accidentes en CA, 285 316 con severidad ≥ 3 (16,4 %).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Oval 22"/>
          <p:cNvSpPr/>
          <p:nvPr/>
        </p:nvSpPr>
        <p:spPr>
          <a:xfrm>
            <a:off x="8366760" y="4800600"/>
            <a:ext cx="383400" cy="383400"/>
          </a:xfrm>
          <a:prstGeom prst="ellipse">
            <a:avLst/>
          </a:prstGeom>
          <a:solidFill>
            <a:srgbClr val="F2592A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23"/>
          <p:cNvSpPr/>
          <p:nvPr/>
        </p:nvSpPr>
        <p:spPr>
          <a:xfrm>
            <a:off x="8366760" y="480060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24"/>
          <p:cNvSpPr/>
          <p:nvPr/>
        </p:nvSpPr>
        <p:spPr>
          <a:xfrm>
            <a:off x="8915400" y="4827960"/>
            <a:ext cx="2833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RadViz climático (D3)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25"/>
          <p:cNvSpPr/>
          <p:nvPr/>
        </p:nvSpPr>
        <p:spPr>
          <a:xfrm>
            <a:off x="8915400" y="5230440"/>
            <a:ext cx="28339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Temperatura, humedad, presión, visibilidad, viento y precipitación. Clic en un punto lo ubica en el mapa.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26"/>
          <p:cNvSpPr/>
          <p:nvPr/>
        </p:nvSpPr>
        <p:spPr>
          <a:xfrm>
            <a:off x="1133856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4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"/>
          <p:cNvSpPr/>
          <p:nvPr/>
        </p:nvSpPr>
        <p:spPr>
          <a:xfrm>
            <a:off x="0" y="0"/>
            <a:ext cx="12191040" cy="410760"/>
          </a:xfrm>
          <a:prstGeom prst="rect">
            <a:avLst/>
          </a:prstGeom>
          <a:solidFill>
            <a:srgbClr val="E7E3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ounded Rectangle 2"/>
          <p:cNvSpPr/>
          <p:nvPr/>
        </p:nvSpPr>
        <p:spPr>
          <a:xfrm>
            <a:off x="411480" y="109800"/>
            <a:ext cx="191160" cy="191160"/>
          </a:xfrm>
          <a:prstGeom prst="roundRect">
            <a:avLst>
              <a:gd name="adj" fmla="val 14285"/>
            </a:avLst>
          </a:prstGeom>
          <a:solidFill>
            <a:srgbClr val="14141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3"/>
          <p:cNvSpPr/>
          <p:nvPr/>
        </p:nvSpPr>
        <p:spPr>
          <a:xfrm>
            <a:off x="713160" y="8244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VIZU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4"/>
          <p:cNvSpPr/>
          <p:nvPr/>
        </p:nvSpPr>
        <p:spPr>
          <a:xfrm>
            <a:off x="5760720" y="91440"/>
            <a:ext cx="6015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5"/>
          <p:cNvSpPr/>
          <p:nvPr/>
        </p:nvSpPr>
        <p:spPr>
          <a:xfrm>
            <a:off x="0" y="411480"/>
            <a:ext cx="12191040" cy="913680"/>
          </a:xfrm>
          <a:prstGeom prst="rect">
            <a:avLst/>
          </a:prstGeom>
          <a:solidFill>
            <a:srgbClr val="E2F9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6"/>
          <p:cNvSpPr/>
          <p:nvPr/>
        </p:nvSpPr>
        <p:spPr>
          <a:xfrm>
            <a:off x="411480" y="411480"/>
            <a:ext cx="113378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1414"/>
                </a:solidFill>
                <a:effectLst/>
                <a:uFillTx/>
                <a:latin typeface="Arial Black"/>
              </a:rPr>
              <a:t>NAVEGACIÓN E INTERACCIÓN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7"/>
          <p:cNvSpPr/>
          <p:nvPr/>
        </p:nvSpPr>
        <p:spPr>
          <a:xfrm>
            <a:off x="457200" y="1600200"/>
            <a:ext cx="1782360" cy="547920"/>
          </a:xfrm>
          <a:prstGeom prst="roundRect">
            <a:avLst>
              <a:gd name="adj" fmla="val 50000"/>
            </a:avLst>
          </a:prstGeom>
          <a:solidFill>
            <a:srgbClr val="F259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8"/>
          <p:cNvSpPr/>
          <p:nvPr/>
        </p:nvSpPr>
        <p:spPr>
          <a:xfrm>
            <a:off x="457200" y="1600200"/>
            <a:ext cx="1782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USA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9"/>
          <p:cNvSpPr/>
          <p:nvPr/>
        </p:nvSpPr>
        <p:spPr>
          <a:xfrm>
            <a:off x="2267640" y="1600200"/>
            <a:ext cx="456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→</a:t>
            </a:r>
            <a:endParaRPr lang="es-MX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10"/>
          <p:cNvSpPr/>
          <p:nvPr/>
        </p:nvSpPr>
        <p:spPr>
          <a:xfrm>
            <a:off x="2743200" y="1600200"/>
            <a:ext cx="1782360" cy="547920"/>
          </a:xfrm>
          <a:prstGeom prst="roundRect">
            <a:avLst>
              <a:gd name="adj" fmla="val 50000"/>
            </a:avLst>
          </a:prstGeom>
          <a:solidFill>
            <a:srgbClr val="E7E3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11"/>
          <p:cNvSpPr/>
          <p:nvPr/>
        </p:nvSpPr>
        <p:spPr>
          <a:xfrm>
            <a:off x="2743200" y="1600200"/>
            <a:ext cx="1782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Estado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2"/>
          <p:cNvSpPr/>
          <p:nvPr/>
        </p:nvSpPr>
        <p:spPr>
          <a:xfrm>
            <a:off x="4553640" y="1600200"/>
            <a:ext cx="456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→</a:t>
            </a:r>
            <a:endParaRPr lang="es-MX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13"/>
          <p:cNvSpPr/>
          <p:nvPr/>
        </p:nvSpPr>
        <p:spPr>
          <a:xfrm>
            <a:off x="5029200" y="1600200"/>
            <a:ext cx="1782360" cy="547920"/>
          </a:xfrm>
          <a:prstGeom prst="roundRect">
            <a:avLst>
              <a:gd name="adj" fmla="val 50000"/>
            </a:avLst>
          </a:prstGeom>
          <a:solidFill>
            <a:srgbClr val="E7E3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14"/>
          <p:cNvSpPr/>
          <p:nvPr/>
        </p:nvSpPr>
        <p:spPr>
          <a:xfrm>
            <a:off x="5029200" y="1600200"/>
            <a:ext cx="1782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Condado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5"/>
          <p:cNvSpPr/>
          <p:nvPr/>
        </p:nvSpPr>
        <p:spPr>
          <a:xfrm>
            <a:off x="6839640" y="1600200"/>
            <a:ext cx="456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→</a:t>
            </a:r>
            <a:endParaRPr lang="es-MX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16"/>
          <p:cNvSpPr/>
          <p:nvPr/>
        </p:nvSpPr>
        <p:spPr>
          <a:xfrm>
            <a:off x="7315200" y="1600200"/>
            <a:ext cx="1782360" cy="547920"/>
          </a:xfrm>
          <a:prstGeom prst="roundRect">
            <a:avLst>
              <a:gd name="adj" fmla="val 50000"/>
            </a:avLst>
          </a:prstGeom>
          <a:solidFill>
            <a:srgbClr val="E7E3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17"/>
          <p:cNvSpPr/>
          <p:nvPr/>
        </p:nvSpPr>
        <p:spPr>
          <a:xfrm>
            <a:off x="7315200" y="1600200"/>
            <a:ext cx="1782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Ciudad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8"/>
          <p:cNvSpPr/>
          <p:nvPr/>
        </p:nvSpPr>
        <p:spPr>
          <a:xfrm>
            <a:off x="9125640" y="1600200"/>
            <a:ext cx="456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→</a:t>
            </a:r>
            <a:endParaRPr lang="es-MX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19"/>
          <p:cNvSpPr/>
          <p:nvPr/>
        </p:nvSpPr>
        <p:spPr>
          <a:xfrm>
            <a:off x="9601200" y="1600200"/>
            <a:ext cx="1782360" cy="547920"/>
          </a:xfrm>
          <a:prstGeom prst="roundRect">
            <a:avLst>
              <a:gd name="adj" fmla="val 50000"/>
            </a:avLst>
          </a:prstGeom>
          <a:solidFill>
            <a:srgbClr val="E7E3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20"/>
          <p:cNvSpPr/>
          <p:nvPr/>
        </p:nvSpPr>
        <p:spPr>
          <a:xfrm>
            <a:off x="9601200" y="1600200"/>
            <a:ext cx="1782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Accidentes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21"/>
          <p:cNvSpPr/>
          <p:nvPr/>
        </p:nvSpPr>
        <p:spPr>
          <a:xfrm>
            <a:off x="2743200" y="2212920"/>
            <a:ext cx="1782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ND: </a:t>
            </a:r>
            <a:r>
              <a:rPr lang="en-US" sz="110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3 487 · 0,9 %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22"/>
          <p:cNvSpPr/>
          <p:nvPr/>
        </p:nvSpPr>
        <p:spPr>
          <a:xfrm>
            <a:off x="5029200" y="2212920"/>
            <a:ext cx="1782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Cascade (MT): </a:t>
            </a:r>
            <a:r>
              <a:rPr lang="en-US" sz="110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729 · 2,1 %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23"/>
          <p:cNvSpPr/>
          <p:nvPr/>
        </p:nvSpPr>
        <p:spPr>
          <a:xfrm>
            <a:off x="7315200" y="2212920"/>
            <a:ext cx="1782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Great Falls: </a:t>
            </a:r>
            <a:r>
              <a:rPr lang="en-US" sz="110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270 · 2,2 %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Picture 24" descr="Filtro de horas con forma de reloj de 24 sectores"/>
          <p:cNvPicPr/>
          <p:nvPr/>
        </p:nvPicPr>
        <p:blipFill>
          <a:blip r:embed="rId1"/>
          <a:stretch/>
        </p:blipFill>
        <p:spPr>
          <a:xfrm>
            <a:off x="457200" y="2788920"/>
            <a:ext cx="2193840" cy="345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Picture 25" descr="Accidentes por hora en California: lunes a viernes frente a fin de semana"/>
          <p:cNvPicPr/>
          <p:nvPr/>
        </p:nvPicPr>
        <p:blipFill>
          <a:blip r:embed="rId2"/>
          <a:stretch/>
        </p:blipFill>
        <p:spPr>
          <a:xfrm>
            <a:off x="3017520" y="2788920"/>
            <a:ext cx="8731800" cy="272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Box 26"/>
          <p:cNvSpPr/>
          <p:nvPr/>
        </p:nvSpPr>
        <p:spPr>
          <a:xfrm>
            <a:off x="3017520" y="5697720"/>
            <a:ext cx="81374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Reloj de 24 h: </a:t>
            </a:r>
            <a:r>
              <a:rPr lang="en-US" sz="14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un sector por hora; se arrastra y puede cruzar medianoche (23 → 00).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Lazo: </a:t>
            </a:r>
            <a:r>
              <a:rPr lang="en-US" sz="14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rodea accidentes en el mapa y se mantiene al hacer zoom.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Todo enlazado: </a:t>
            </a:r>
            <a:r>
              <a:rPr lang="en-US" sz="14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reloj, lazo y severidad filtran a la vez el mapa, el RadViz y las líneas.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27"/>
          <p:cNvSpPr/>
          <p:nvPr/>
        </p:nvSpPr>
        <p:spPr>
          <a:xfrm>
            <a:off x="1133856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5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"/>
          <p:cNvSpPr/>
          <p:nvPr/>
        </p:nvSpPr>
        <p:spPr>
          <a:xfrm>
            <a:off x="0" y="0"/>
            <a:ext cx="12191040" cy="410760"/>
          </a:xfrm>
          <a:prstGeom prst="rect">
            <a:avLst/>
          </a:prstGeom>
          <a:solidFill>
            <a:srgbClr val="E7E3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ounded Rectangle 2"/>
          <p:cNvSpPr/>
          <p:nvPr/>
        </p:nvSpPr>
        <p:spPr>
          <a:xfrm>
            <a:off x="411480" y="109800"/>
            <a:ext cx="191160" cy="191160"/>
          </a:xfrm>
          <a:prstGeom prst="roundRect">
            <a:avLst>
              <a:gd name="adj" fmla="val 14285"/>
            </a:avLst>
          </a:prstGeom>
          <a:solidFill>
            <a:srgbClr val="14141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3"/>
          <p:cNvSpPr/>
          <p:nvPr/>
        </p:nvSpPr>
        <p:spPr>
          <a:xfrm>
            <a:off x="713160" y="8244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VIZU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4"/>
          <p:cNvSpPr/>
          <p:nvPr/>
        </p:nvSpPr>
        <p:spPr>
          <a:xfrm>
            <a:off x="5760720" y="91440"/>
            <a:ext cx="6015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5"/>
          <p:cNvSpPr/>
          <p:nvPr/>
        </p:nvSpPr>
        <p:spPr>
          <a:xfrm>
            <a:off x="0" y="411480"/>
            <a:ext cx="12191040" cy="913680"/>
          </a:xfrm>
          <a:prstGeom prst="rect">
            <a:avLst/>
          </a:prstGeom>
          <a:solidFill>
            <a:srgbClr val="E2F9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6"/>
          <p:cNvSpPr/>
          <p:nvPr/>
        </p:nvSpPr>
        <p:spPr>
          <a:xfrm>
            <a:off x="411480" y="411480"/>
            <a:ext cx="113378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1414"/>
                </a:solidFill>
                <a:effectLst/>
                <a:uFillTx/>
                <a:latin typeface="Arial Black"/>
              </a:rPr>
              <a:t>DECISIONES DE DISEÑO Y ALTERNATIVAS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4" name="Table 7"/>
          <p:cNvGraphicFramePr/>
          <p:nvPr/>
        </p:nvGraphicFramePr>
        <p:xfrm>
          <a:off x="457200" y="1554480"/>
          <a:ext cx="11273760" cy="4552560"/>
        </p:xfrm>
        <a:graphic>
          <a:graphicData uri="http://schemas.openxmlformats.org/drawingml/2006/table">
            <a:tbl>
              <a:tblPr/>
              <a:tblGrid>
                <a:gridCol w="3566160"/>
                <a:gridCol w="3977280"/>
                <a:gridCol w="3730680"/>
              </a:tblGrid>
              <a:tr h="38376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Decidimos</a:t>
                      </a:r>
                      <a:endParaRPr lang="es-MX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Por qué</a:t>
                      </a:r>
                      <a:endParaRPr lang="es-MX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Alternativa y por qué no</a:t>
                      </a:r>
                      <a:endParaRPr lang="es-MX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</a:tr>
              <a:tr h="6948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Source como filtro de primer nivel</a:t>
                      </a:r>
                      <a:endParaRPr lang="es-MX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Cada fuente etiqueta la severidad con su propio criterio</a:t>
                      </a:r>
                      <a:endParaRPr lang="es-MX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Juntar todas las fuentes: conclusiones engañosas</a:t>
                      </a:r>
                      <a:endParaRPr lang="es-MX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48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Mapa por proporción severidad ≥ 3 / total</a:t>
                      </a:r>
                      <a:endParaRPr lang="es-MX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No confundir volumen de registros con riesgo</a:t>
                      </a:r>
                      <a:endParaRPr lang="es-MX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Conteo absoluto: destacaría a los estados con más registros</a:t>
                      </a:r>
                      <a:endParaRPr lang="es-MX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48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Vistas coordinadas: mapa, RadViz y líneas comparten la selección</a:t>
                      </a:r>
                      <a:endParaRPr lang="es-MX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Mantener el contexto, como en JamVis y TripVista</a:t>
                      </a:r>
                      <a:endParaRPr lang="es-MX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Gráficos sueltos: se pierde qué está filtrado</a:t>
                      </a:r>
                      <a:endParaRPr lang="es-MX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48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Muestra fija por área y tope de 2 500 puntos</a:t>
                      </a:r>
                      <a:endParaRPr lang="es-MX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El navegador no dibuja 7,7 M de puntos; los totales salen del conjunto completo</a:t>
                      </a:r>
                      <a:endParaRPr lang="es-MX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Solo agregados: se pierde el detalle de calle</a:t>
                      </a:r>
                      <a:endParaRPr lang="es-MX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48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RadViz con 6 variables climáticas numéricas</a:t>
                      </a:r>
                      <a:endParaRPr lang="es-MX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Junta las condiciones de cada accidente en un solo plano</a:t>
                      </a:r>
                      <a:endParaRPr lang="es-MX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Barras por categoría de clima: más fácil de leer, menos detalle</a:t>
                      </a:r>
                      <a:endParaRPr lang="es-MX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48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Reloj radial para filtrar horas</a:t>
                      </a:r>
                      <a:endParaRPr lang="es-MX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El tiempo es cíclico: 22:00–02:00 se elige de un tirón</a:t>
                      </a:r>
                      <a:endParaRPr lang="es-MX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41414"/>
                          </a:solidFill>
                          <a:effectLst/>
                          <a:uFillTx/>
                          <a:latin typeface="Arial"/>
                        </a:rPr>
                        <a:t>Slider lineal: corta en medianoche</a:t>
                      </a:r>
                      <a:endParaRPr lang="es-MX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4F5"/>
                      </a:solidFill>
                      <a:prstDash val="solid"/>
                    </a:lnL>
                    <a:lnR w="9360">
                      <a:solidFill>
                        <a:srgbClr val="D9D4F5"/>
                      </a:solidFill>
                      <a:prstDash val="solid"/>
                    </a:lnR>
                    <a:lnT w="9360">
                      <a:solidFill>
                        <a:srgbClr val="D9D4F5"/>
                      </a:solidFill>
                      <a:prstDash val="solid"/>
                    </a:lnT>
                    <a:lnB w="9360">
                      <a:solidFill>
                        <a:srgbClr val="D9D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5" name="TextBox 8"/>
          <p:cNvSpPr/>
          <p:nvPr/>
        </p:nvSpPr>
        <p:spPr>
          <a:xfrm>
            <a:off x="1133856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6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"/>
          <p:cNvSpPr/>
          <p:nvPr/>
        </p:nvSpPr>
        <p:spPr>
          <a:xfrm>
            <a:off x="0" y="0"/>
            <a:ext cx="12191040" cy="410760"/>
          </a:xfrm>
          <a:prstGeom prst="rect">
            <a:avLst/>
          </a:prstGeom>
          <a:solidFill>
            <a:srgbClr val="E7E3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Rounded Rectangle 2"/>
          <p:cNvSpPr/>
          <p:nvPr/>
        </p:nvSpPr>
        <p:spPr>
          <a:xfrm>
            <a:off x="411480" y="109800"/>
            <a:ext cx="191160" cy="191160"/>
          </a:xfrm>
          <a:prstGeom prst="roundRect">
            <a:avLst>
              <a:gd name="adj" fmla="val 14285"/>
            </a:avLst>
          </a:prstGeom>
          <a:solidFill>
            <a:srgbClr val="14141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3"/>
          <p:cNvSpPr/>
          <p:nvPr/>
        </p:nvSpPr>
        <p:spPr>
          <a:xfrm>
            <a:off x="713160" y="8244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VIZU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4"/>
          <p:cNvSpPr/>
          <p:nvPr/>
        </p:nvSpPr>
        <p:spPr>
          <a:xfrm>
            <a:off x="5760720" y="91440"/>
            <a:ext cx="60159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5"/>
          <p:cNvSpPr/>
          <p:nvPr/>
        </p:nvSpPr>
        <p:spPr>
          <a:xfrm>
            <a:off x="0" y="411480"/>
            <a:ext cx="12191040" cy="913680"/>
          </a:xfrm>
          <a:prstGeom prst="rect">
            <a:avLst/>
          </a:prstGeom>
          <a:solidFill>
            <a:srgbClr val="E2F9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6"/>
          <p:cNvSpPr/>
          <p:nvPr/>
        </p:nvSpPr>
        <p:spPr>
          <a:xfrm>
            <a:off x="411480" y="411480"/>
            <a:ext cx="113378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1414"/>
                </a:solidFill>
                <a:effectLst/>
                <a:uFillTx/>
                <a:latin typeface="Arial Black"/>
              </a:rPr>
              <a:t>LIMITACIONES Y LO QUE FALTA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7"/>
          <p:cNvSpPr/>
          <p:nvPr/>
        </p:nvSpPr>
        <p:spPr>
          <a:xfrm>
            <a:off x="457200" y="1600200"/>
            <a:ext cx="5485680" cy="4022640"/>
          </a:xfrm>
          <a:prstGeom prst="roundRect">
            <a:avLst>
              <a:gd name="adj" fmla="val 2727"/>
            </a:avLst>
          </a:prstGeom>
          <a:solidFill>
            <a:srgbClr val="F4F2FD"/>
          </a:solidFill>
          <a:ln>
            <a:solidFill>
              <a:srgbClr val="E7E3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Oval 8"/>
          <p:cNvSpPr/>
          <p:nvPr/>
        </p:nvSpPr>
        <p:spPr>
          <a:xfrm>
            <a:off x="731520" y="1828800"/>
            <a:ext cx="593640" cy="593640"/>
          </a:xfrm>
          <a:prstGeom prst="ellipse">
            <a:avLst/>
          </a:prstGeom>
          <a:solidFill>
            <a:srgbClr val="F259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9"/>
          <p:cNvSpPr/>
          <p:nvPr/>
        </p:nvSpPr>
        <p:spPr>
          <a:xfrm>
            <a:off x="731520" y="1828800"/>
            <a:ext cx="593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!</a:t>
            </a:r>
            <a:endParaRPr lang="es-MX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0"/>
          <p:cNvSpPr/>
          <p:nvPr/>
        </p:nvSpPr>
        <p:spPr>
          <a:xfrm>
            <a:off x="1508760" y="1874520"/>
            <a:ext cx="42055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Limitaciones conocidas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1"/>
          <p:cNvSpPr/>
          <p:nvPr/>
        </p:nvSpPr>
        <p:spPr>
          <a:xfrm>
            <a:off x="777240" y="2697480"/>
            <a:ext cx="4891320" cy="22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55960" indent="-255960" defTabSz="457200">
              <a:lnSpc>
                <a:spcPct val="100000"/>
              </a:lnSpc>
              <a:spcAft>
                <a:spcPts val="1001"/>
              </a:spcAft>
              <a:buClr>
                <a:srgbClr val="14141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La muestra sirve para explorar relaciones; sus frecuencias no son proporciones de toda la población.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5960" indent="-255960" defTabSz="457200">
              <a:lnSpc>
                <a:spcPct val="100000"/>
              </a:lnSpc>
              <a:spcAft>
                <a:spcPts val="1001"/>
              </a:spcAft>
              <a:buClr>
                <a:srgbClr val="14141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La composición de fuentes cambia en el tiempo: no leer tendencias de severidad sin controlar Source.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5960" indent="-255960" defTabSz="457200">
              <a:lnSpc>
                <a:spcPct val="100000"/>
              </a:lnSpc>
              <a:spcAft>
                <a:spcPts val="1001"/>
              </a:spcAft>
              <a:buClr>
                <a:srgbClr val="14141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Las líneas son conteos, no se dividen por los 5 días hábiles frente a los 2 del fin de semana.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5960" indent="-255960" defTabSz="457200">
              <a:lnSpc>
                <a:spcPct val="100000"/>
              </a:lnSpc>
              <a:spcAft>
                <a:spcPts val="1001"/>
              </a:spcAft>
              <a:buClr>
                <a:srgbClr val="14141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El RadViz omite accidentes con clima incompleto (en CA, 1 115 de 2 500).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ounded Rectangle 12"/>
          <p:cNvSpPr/>
          <p:nvPr/>
        </p:nvSpPr>
        <p:spPr>
          <a:xfrm>
            <a:off x="6217920" y="1600200"/>
            <a:ext cx="5485680" cy="4022640"/>
          </a:xfrm>
          <a:prstGeom prst="roundRect">
            <a:avLst>
              <a:gd name="adj" fmla="val 2727"/>
            </a:avLst>
          </a:prstGeom>
          <a:solidFill>
            <a:srgbClr val="F4F2FD"/>
          </a:solidFill>
          <a:ln>
            <a:solidFill>
              <a:srgbClr val="E7E3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Oval 13"/>
          <p:cNvSpPr/>
          <p:nvPr/>
        </p:nvSpPr>
        <p:spPr>
          <a:xfrm>
            <a:off x="6492240" y="1828800"/>
            <a:ext cx="593640" cy="593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14"/>
          <p:cNvSpPr/>
          <p:nvPr/>
        </p:nvSpPr>
        <p:spPr>
          <a:xfrm>
            <a:off x="6492240" y="1828800"/>
            <a:ext cx="593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→</a:t>
            </a:r>
            <a:endParaRPr lang="es-MX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5"/>
          <p:cNvSpPr/>
          <p:nvPr/>
        </p:nvSpPr>
        <p:spPr>
          <a:xfrm>
            <a:off x="7269480" y="1874520"/>
            <a:ext cx="42055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Para la semana 12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6"/>
          <p:cNvSpPr/>
          <p:nvPr/>
        </p:nvSpPr>
        <p:spPr>
          <a:xfrm>
            <a:off x="6537960" y="2697480"/>
            <a:ext cx="4891320" cy="185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55960" indent="-255960" defTabSz="457200">
              <a:lnSpc>
                <a:spcPct val="100000"/>
              </a:lnSpc>
              <a:spcAft>
                <a:spcPts val="1001"/>
              </a:spcAft>
              <a:buClr>
                <a:srgbClr val="14141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T4: infraestructura vial dentro de una misma fuente (Traffic_Signal, Crossing, Junction, Stop, Station, Amenity, Railway).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5960" indent="-255960" defTabSz="457200">
              <a:lnSpc>
                <a:spcPct val="100000"/>
              </a:lnSpc>
              <a:spcAft>
                <a:spcPts val="1001"/>
              </a:spcAft>
              <a:buClr>
                <a:srgbClr val="14141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T5: comparación A/B de dos regiones, mostrando su composición de fuentes.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5960" indent="-255960" defTabSz="457200">
              <a:lnSpc>
                <a:spcPct val="100000"/>
              </a:lnSpc>
              <a:spcAft>
                <a:spcPts val="1001"/>
              </a:spcAft>
              <a:buClr>
                <a:srgbClr val="14141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Convertir la exploración en una historia guiada con hallazgos.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17"/>
          <p:cNvSpPr/>
          <p:nvPr/>
        </p:nvSpPr>
        <p:spPr>
          <a:xfrm>
            <a:off x="1133856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7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1"/>
          <p:cNvSpPr/>
          <p:nvPr/>
        </p:nvSpPr>
        <p:spPr>
          <a:xfrm>
            <a:off x="0" y="0"/>
            <a:ext cx="12191040" cy="410760"/>
          </a:xfrm>
          <a:prstGeom prst="rect">
            <a:avLst/>
          </a:prstGeom>
          <a:solidFill>
            <a:srgbClr val="E7E3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Rounded Rectangle 2"/>
          <p:cNvSpPr/>
          <p:nvPr/>
        </p:nvSpPr>
        <p:spPr>
          <a:xfrm>
            <a:off x="411480" y="109800"/>
            <a:ext cx="191160" cy="191160"/>
          </a:xfrm>
          <a:prstGeom prst="roundRect">
            <a:avLst>
              <a:gd name="adj" fmla="val 14285"/>
            </a:avLst>
          </a:prstGeom>
          <a:solidFill>
            <a:srgbClr val="14141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3"/>
          <p:cNvSpPr/>
          <p:nvPr/>
        </p:nvSpPr>
        <p:spPr>
          <a:xfrm>
            <a:off x="713160" y="8244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VIZU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4"/>
          <p:cNvSpPr/>
          <p:nvPr/>
        </p:nvSpPr>
        <p:spPr>
          <a:xfrm>
            <a:off x="5760720" y="91440"/>
            <a:ext cx="6015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5"/>
          <p:cNvSpPr/>
          <p:nvPr/>
        </p:nvSpPr>
        <p:spPr>
          <a:xfrm>
            <a:off x="0" y="411480"/>
            <a:ext cx="12191040" cy="913680"/>
          </a:xfrm>
          <a:prstGeom prst="rect">
            <a:avLst/>
          </a:prstGeom>
          <a:solidFill>
            <a:srgbClr val="E2F9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6"/>
          <p:cNvSpPr/>
          <p:nvPr/>
        </p:nvSpPr>
        <p:spPr>
          <a:xfrm>
            <a:off x="411480" y="411480"/>
            <a:ext cx="113378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1414"/>
                </a:solidFill>
                <a:effectLst/>
                <a:uFillTx/>
                <a:latin typeface="Arial Black"/>
              </a:rPr>
              <a:t>QUEREMOS SU FEEDBACK SOBRE…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7"/>
          <p:cNvSpPr/>
          <p:nvPr/>
        </p:nvSpPr>
        <p:spPr>
          <a:xfrm>
            <a:off x="457200" y="1645920"/>
            <a:ext cx="5485680" cy="1736640"/>
          </a:xfrm>
          <a:prstGeom prst="roundRect">
            <a:avLst>
              <a:gd name="adj" fmla="val 6315"/>
            </a:avLst>
          </a:prstGeom>
          <a:solidFill>
            <a:srgbClr val="E7E3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8"/>
          <p:cNvSpPr/>
          <p:nvPr/>
        </p:nvSpPr>
        <p:spPr>
          <a:xfrm>
            <a:off x="731520" y="1920240"/>
            <a:ext cx="730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2592A"/>
                </a:solidFill>
                <a:effectLst/>
                <a:uFillTx/>
                <a:latin typeface="Arial Black"/>
              </a:rPr>
              <a:t>1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9"/>
          <p:cNvSpPr/>
          <p:nvPr/>
        </p:nvSpPr>
        <p:spPr>
          <a:xfrm>
            <a:off x="1554480" y="1828800"/>
            <a:ext cx="41598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¿Queda claro que el mapa muestra una proporción y no un ranking de peligrosidad?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10"/>
          <p:cNvSpPr/>
          <p:nvPr/>
        </p:nvSpPr>
        <p:spPr>
          <a:xfrm>
            <a:off x="6217920" y="1645920"/>
            <a:ext cx="5485680" cy="1736640"/>
          </a:xfrm>
          <a:prstGeom prst="roundRect">
            <a:avLst>
              <a:gd name="adj" fmla="val 6315"/>
            </a:avLst>
          </a:prstGeom>
          <a:solidFill>
            <a:srgbClr val="E7E3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11"/>
          <p:cNvSpPr/>
          <p:nvPr/>
        </p:nvSpPr>
        <p:spPr>
          <a:xfrm>
            <a:off x="6492240" y="1920240"/>
            <a:ext cx="730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2592A"/>
                </a:solidFill>
                <a:effectLst/>
                <a:uFillTx/>
                <a:latin typeface="Arial Black"/>
              </a:rPr>
              <a:t>2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2"/>
          <p:cNvSpPr/>
          <p:nvPr/>
        </p:nvSpPr>
        <p:spPr>
          <a:xfrm>
            <a:off x="7315200" y="1828800"/>
            <a:ext cx="41598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¿El selector de fuente se ve y se entiende por qué hay que controlarla?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ounded Rectangle 13"/>
          <p:cNvSpPr/>
          <p:nvPr/>
        </p:nvSpPr>
        <p:spPr>
          <a:xfrm>
            <a:off x="457200" y="3611880"/>
            <a:ext cx="5485680" cy="1736640"/>
          </a:xfrm>
          <a:prstGeom prst="roundRect">
            <a:avLst>
              <a:gd name="adj" fmla="val 6315"/>
            </a:avLst>
          </a:prstGeom>
          <a:solidFill>
            <a:srgbClr val="E7E3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14"/>
          <p:cNvSpPr/>
          <p:nvPr/>
        </p:nvSpPr>
        <p:spPr>
          <a:xfrm>
            <a:off x="731520" y="3886200"/>
            <a:ext cx="730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2592A"/>
                </a:solidFill>
                <a:effectLst/>
                <a:uFillTx/>
                <a:latin typeface="Arial Black"/>
              </a:rPr>
              <a:t>3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5"/>
          <p:cNvSpPr/>
          <p:nvPr/>
        </p:nvSpPr>
        <p:spPr>
          <a:xfrm>
            <a:off x="1554480" y="3794760"/>
            <a:ext cx="41598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¿El RadViz les deja leer el clima, o preferirían barras por categoría de clima?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16"/>
          <p:cNvSpPr/>
          <p:nvPr/>
        </p:nvSpPr>
        <p:spPr>
          <a:xfrm>
            <a:off x="6217920" y="3611880"/>
            <a:ext cx="5485680" cy="1736640"/>
          </a:xfrm>
          <a:prstGeom prst="roundRect">
            <a:avLst>
              <a:gd name="adj" fmla="val 6315"/>
            </a:avLst>
          </a:prstGeom>
          <a:solidFill>
            <a:srgbClr val="E7E3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17"/>
          <p:cNvSpPr/>
          <p:nvPr/>
        </p:nvSpPr>
        <p:spPr>
          <a:xfrm>
            <a:off x="6492240" y="3886200"/>
            <a:ext cx="730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2592A"/>
                </a:solidFill>
                <a:effectLst/>
                <a:uFillTx/>
                <a:latin typeface="Arial Black"/>
              </a:rPr>
              <a:t>4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8"/>
          <p:cNvSpPr/>
          <p:nvPr/>
        </p:nvSpPr>
        <p:spPr>
          <a:xfrm>
            <a:off x="7315200" y="3794760"/>
            <a:ext cx="41598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¿Etiquetas, leyendas y tooltips se entienden sin documentación externa?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19"/>
          <p:cNvSpPr/>
          <p:nvPr/>
        </p:nvSpPr>
        <p:spPr>
          <a:xfrm>
            <a:off x="457200" y="5760720"/>
            <a:ext cx="11246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/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20"/>
          <p:cNvSpPr/>
          <p:nvPr/>
        </p:nvSpPr>
        <p:spPr>
          <a:xfrm>
            <a:off x="1133856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8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LibreOffice/26.8.1.1$Linux_X86_64 LibreOffice_project/680$Build-1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Equipo VIZU</dc:creator>
  <dc:description>generated using python-pptx</dc:description>
  <dc:language>es-MX</dc:language>
  <cp:lastModifiedBy/>
  <dcterms:modified xsi:type="dcterms:W3CDTF">2026-10-14T08:58:15Z</dcterms:modified>
  <cp:revision>3</cp:revision>
  <dc:subject/>
  <dc:title>VIZU · Design review semana 10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