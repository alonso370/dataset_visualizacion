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  <p:embeddedFont>
      <p:font typeface="Rubik Mono" charset="1" panose="0200050402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[0:00-0:15] Presentar al equipo y el objetivo: mostrar el prototipo funcional y pedir feedback concreto en 5 minutos.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[0:15-0:55] El problema y para quién. Severity &gt;= 3 = mayor impacto en el tráfico. Source1 y Source2 etiquetan distinto: por eso la fuente es un filtro del prototipo.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[0:55-1:20] Ser honestos: T1 y T2 cubiertas, T3 a medias, T4 y T5 son lo que falta para la semana 12.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[1:20-1:50] Una frase por paper: de Fan, las escalas y laborables vs. fin de semana; de Sunkpho, el dashboard único con filtros y el mapa proporcional; de JamVis, el mapa como entrada y las vistas enlazadas; de TripVista, el lazo y la vista multivariable enlazada. Lo pendiente: el focus + context temporal de JamVis (brush) es para la semana 12.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[1:50-2:40] DEMO EN VIVO (run_server.bat). Ruta: USA -&gt; clic en California -&gt; totales y RadViz -&gt; clic en Los Angeles -&gt; abrir el reloj y elegir horas pico -&gt; dibujar un lazo. Si falla internet o Mapbox, quedarse en estas capturas.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[3:05-3:55] Contar 2 o 3 decisiones: Source como filtro, proporción en vez de conteo, reloj radial. Las tres primeras filas salen del PrototypeReport; principio general: panorama primero, detalle después (USA -&gt; estado -&gt; condado -&gt; ciudad).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[3:55-4:15] Lo que falta está planificado: T4, T5, despliegue e historia guiada para la semana 12.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941618" cy="10295039"/>
            <a:chOff x="0" y="0"/>
            <a:chExt cx="658882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888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6588887">
                  <a:moveTo>
                    <a:pt x="0" y="0"/>
                  </a:moveTo>
                  <a:lnTo>
                    <a:pt x="6588887" y="0"/>
                  </a:lnTo>
                  <a:lnTo>
                    <a:pt x="658888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5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65225" y="7608808"/>
            <a:ext cx="11804980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Angel Tito Berrocal · Gianella Lira Ñaupari · Gady Enciso Gomez · Oscar Alonso Gomez Marin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DS-5343 Visualización de Datos · UTEC 2026-2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7706" y="6628886"/>
            <a:ext cx="4118019" cy="126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7,7 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7706" y="7951975"/>
            <a:ext cx="3843480" cy="124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accidentes, explorables en el navegador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61683" y="2109871"/>
            <a:ext cx="13126317" cy="485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499">
                <a:solidFill>
                  <a:srgbClr val="000000"/>
                </a:solidFill>
                <a:latin typeface="Rubik Mono"/>
                <a:ea typeface="Rubik Mono"/>
                <a:cs typeface="Rubik Mono"/>
                <a:sym typeface="Rubik Mono"/>
              </a:rPr>
              <a:t>Accidentes de transito en USA (2016-2023)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617706"/>
            <a:ext cx="18301840" cy="1372676"/>
            <a:chOff x="0" y="0"/>
            <a:chExt cx="24402453" cy="18302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241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7706" y="617706"/>
            <a:ext cx="17021137" cy="1372676"/>
            <a:chOff x="0" y="0"/>
            <a:chExt cx="22694849" cy="1830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94850" cy="1830230"/>
            </a:xfrm>
            <a:custGeom>
              <a:avLst/>
              <a:gdLst/>
              <a:ahLst/>
              <a:cxnLst/>
              <a:rect r="r" b="b" t="t" l="l"/>
              <a:pathLst>
                <a:path h="1830230" w="22694850">
                  <a:moveTo>
                    <a:pt x="0" y="0"/>
                  </a:moveTo>
                  <a:lnTo>
                    <a:pt x="22694850" y="0"/>
                  </a:lnTo>
                  <a:lnTo>
                    <a:pt x="2269485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694849" cy="184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14141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PROBLEMA Y AUDIENCIA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6333" y="2373601"/>
            <a:ext cx="9883245" cy="174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¿Dónde y cuándo se concentran los accidentes de mayor impacto en Estados Unidos, y bajo qué condiciones?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333" y="4236234"/>
            <a:ext cx="9883245" cy="235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2702"/>
              </a:lnSpc>
              <a:buFont typeface="Arial"/>
              <a:buChar char="•"/>
            </a:pPr>
            <a:r>
              <a:rPr lang="en-US" sz="225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Mayor impacto = Severity ≥ 3: la severidad mide el efecto del accidente sobre el tráfico.</a:t>
            </a:r>
          </a:p>
          <a:p>
            <a:pPr algn="l" marL="407830" indent="-203915" lvl="1">
              <a:lnSpc>
                <a:spcPts val="2702"/>
              </a:lnSpc>
              <a:buFont typeface="Arial"/>
              <a:buChar char="•"/>
            </a:pPr>
            <a:r>
              <a:rPr lang="en-US" sz="225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La fuente del dato (Source1, Source2…) es una variable de control: cada proveedor etiqueta la severidad con su propio criterio.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33" y="6794725"/>
            <a:ext cx="3088510" cy="2264912"/>
            <a:chOff x="0" y="0"/>
            <a:chExt cx="4118013" cy="30198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7975" cy="3019806"/>
            </a:xfrm>
            <a:custGeom>
              <a:avLst/>
              <a:gdLst/>
              <a:ahLst/>
              <a:cxnLst/>
              <a:rect r="r" b="b" t="t" l="l"/>
              <a:pathLst>
                <a:path h="3019806" w="411797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898392" y="0"/>
                  </a:lnTo>
                  <a:cubicBezTo>
                    <a:pt x="4019677" y="0"/>
                    <a:pt x="4117975" y="98298"/>
                    <a:pt x="4117975" y="219583"/>
                  </a:cubicBezTo>
                  <a:lnTo>
                    <a:pt x="4117975" y="2800223"/>
                  </a:lnTo>
                  <a:cubicBezTo>
                    <a:pt x="4117975" y="2921508"/>
                    <a:pt x="4019677" y="3019806"/>
                    <a:pt x="3898392" y="3019806"/>
                  </a:cubicBezTo>
                  <a:lnTo>
                    <a:pt x="219583" y="3019806"/>
                  </a:lnTo>
                  <a:cubicBezTo>
                    <a:pt x="98298" y="3019933"/>
                    <a:pt x="0" y="2921508"/>
                    <a:pt x="0" y="2800223"/>
                  </a:cubicBezTo>
                  <a:close/>
                </a:path>
              </a:pathLst>
            </a:custGeom>
            <a:solidFill>
              <a:srgbClr val="E7E3F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0872" y="7050214"/>
            <a:ext cx="2676716" cy="97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7 728 394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872" y="8079715"/>
            <a:ext cx="267671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accidentes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049382" y="6794725"/>
            <a:ext cx="3088510" cy="2264912"/>
            <a:chOff x="0" y="0"/>
            <a:chExt cx="4118013" cy="3019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7975" cy="3019806"/>
            </a:xfrm>
            <a:custGeom>
              <a:avLst/>
              <a:gdLst/>
              <a:ahLst/>
              <a:cxnLst/>
              <a:rect r="r" b="b" t="t" l="l"/>
              <a:pathLst>
                <a:path h="3019806" w="411797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898392" y="0"/>
                  </a:lnTo>
                  <a:cubicBezTo>
                    <a:pt x="4019677" y="0"/>
                    <a:pt x="4117975" y="98298"/>
                    <a:pt x="4117975" y="219583"/>
                  </a:cubicBezTo>
                  <a:lnTo>
                    <a:pt x="4117975" y="2800223"/>
                  </a:lnTo>
                  <a:cubicBezTo>
                    <a:pt x="4117975" y="2921508"/>
                    <a:pt x="4019677" y="3019806"/>
                    <a:pt x="3898392" y="3019806"/>
                  </a:cubicBezTo>
                  <a:lnTo>
                    <a:pt x="219583" y="3019806"/>
                  </a:lnTo>
                  <a:cubicBezTo>
                    <a:pt x="98298" y="3019933"/>
                    <a:pt x="0" y="2921508"/>
                    <a:pt x="0" y="2800223"/>
                  </a:cubicBezTo>
                  <a:close/>
                </a:path>
              </a:pathLst>
            </a:custGeom>
            <a:solidFill>
              <a:srgbClr val="E7E3F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323921" y="7040689"/>
            <a:ext cx="2676716" cy="9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49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23921" y="8079715"/>
            <a:ext cx="267671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412431" y="6794725"/>
            <a:ext cx="3088510" cy="2264912"/>
            <a:chOff x="0" y="0"/>
            <a:chExt cx="4118013" cy="30198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7975" cy="3019806"/>
            </a:xfrm>
            <a:custGeom>
              <a:avLst/>
              <a:gdLst/>
              <a:ahLst/>
              <a:cxnLst/>
              <a:rect r="r" b="b" t="t" l="l"/>
              <a:pathLst>
                <a:path h="3019806" w="411797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898392" y="0"/>
                  </a:lnTo>
                  <a:cubicBezTo>
                    <a:pt x="4019677" y="0"/>
                    <a:pt x="4117975" y="98298"/>
                    <a:pt x="4117975" y="219583"/>
                  </a:cubicBezTo>
                  <a:lnTo>
                    <a:pt x="4117975" y="2800223"/>
                  </a:lnTo>
                  <a:cubicBezTo>
                    <a:pt x="4117975" y="2921508"/>
                    <a:pt x="4019677" y="3019806"/>
                    <a:pt x="3898392" y="3019806"/>
                  </a:cubicBezTo>
                  <a:lnTo>
                    <a:pt x="219583" y="3019806"/>
                  </a:lnTo>
                  <a:cubicBezTo>
                    <a:pt x="98298" y="3019933"/>
                    <a:pt x="0" y="2921508"/>
                    <a:pt x="0" y="2800223"/>
                  </a:cubicBezTo>
                  <a:close/>
                </a:path>
              </a:pathLst>
            </a:custGeom>
            <a:solidFill>
              <a:srgbClr val="E7E3F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686961" y="7050214"/>
            <a:ext cx="2676716" cy="97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2016–2023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86961" y="8079715"/>
            <a:ext cx="2676716" cy="70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feb 2016 a mar 2023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386033" y="2532297"/>
            <a:ext cx="6259954" cy="2485111"/>
            <a:chOff x="0" y="0"/>
            <a:chExt cx="8346605" cy="33134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46567" cy="3313430"/>
            </a:xfrm>
            <a:custGeom>
              <a:avLst/>
              <a:gdLst/>
              <a:ahLst/>
              <a:cxnLst/>
              <a:rect r="r" b="b" t="t" l="l"/>
              <a:pathLst>
                <a:path h="3313430" w="8346567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8125714" y="0"/>
                  </a:lnTo>
                  <a:cubicBezTo>
                    <a:pt x="8247761" y="0"/>
                    <a:pt x="8346567" y="98933"/>
                    <a:pt x="8346567" y="220853"/>
                  </a:cubicBezTo>
                  <a:lnTo>
                    <a:pt x="8346567" y="3092577"/>
                  </a:lnTo>
                  <a:cubicBezTo>
                    <a:pt x="8346567" y="3214624"/>
                    <a:pt x="8247634" y="3313430"/>
                    <a:pt x="8125714" y="3313430"/>
                  </a:cubicBezTo>
                  <a:lnTo>
                    <a:pt x="220853" y="3313430"/>
                  </a:lnTo>
                  <a:cubicBezTo>
                    <a:pt x="98933" y="3313430"/>
                    <a:pt x="0" y="3214624"/>
                    <a:pt x="0" y="3092577"/>
                  </a:cubicBezTo>
                  <a:close/>
                </a:path>
              </a:pathLst>
            </a:custGeom>
            <a:solidFill>
              <a:srgbClr val="F4F2FD"/>
            </a:solidFill>
            <a:ln w="14299" cap="sq">
              <a:solidFill>
                <a:srgbClr val="E7E3F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736353" y="2951245"/>
            <a:ext cx="960872" cy="960872"/>
            <a:chOff x="0" y="0"/>
            <a:chExt cx="1281163" cy="12811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F2592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736353" y="2951245"/>
            <a:ext cx="960872" cy="960872"/>
            <a:chOff x="0" y="0"/>
            <a:chExt cx="1281163" cy="12811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161" cy="1281161"/>
            </a:xfrm>
            <a:custGeom>
              <a:avLst/>
              <a:gdLst/>
              <a:ahLst/>
              <a:cxnLst/>
              <a:rect r="r" b="b" t="t" l="l"/>
              <a:pathLst>
                <a:path h="1281161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281163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971755" y="2863558"/>
            <a:ext cx="4461186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Audiencia principal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71755" y="3463338"/>
            <a:ext cx="4461186" cy="1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Analistas de seguridad vial y equipos de planificación urbana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86033" y="5346278"/>
            <a:ext cx="6259954" cy="2485111"/>
            <a:chOff x="0" y="0"/>
            <a:chExt cx="8346605" cy="33134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46567" cy="3313430"/>
            </a:xfrm>
            <a:custGeom>
              <a:avLst/>
              <a:gdLst/>
              <a:ahLst/>
              <a:cxnLst/>
              <a:rect r="r" b="b" t="t" l="l"/>
              <a:pathLst>
                <a:path h="3313430" w="8346567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8125714" y="0"/>
                  </a:lnTo>
                  <a:cubicBezTo>
                    <a:pt x="8247761" y="0"/>
                    <a:pt x="8346567" y="98933"/>
                    <a:pt x="8346567" y="220853"/>
                  </a:cubicBezTo>
                  <a:lnTo>
                    <a:pt x="8346567" y="3092577"/>
                  </a:lnTo>
                  <a:cubicBezTo>
                    <a:pt x="8346567" y="3214624"/>
                    <a:pt x="8247634" y="3313430"/>
                    <a:pt x="8125714" y="3313430"/>
                  </a:cubicBezTo>
                  <a:lnTo>
                    <a:pt x="220853" y="3313430"/>
                  </a:lnTo>
                  <a:cubicBezTo>
                    <a:pt x="98933" y="3313430"/>
                    <a:pt x="0" y="3214624"/>
                    <a:pt x="0" y="3092577"/>
                  </a:cubicBezTo>
                  <a:close/>
                </a:path>
              </a:pathLst>
            </a:custGeom>
            <a:solidFill>
              <a:srgbClr val="F4F2FD"/>
            </a:solidFill>
            <a:ln w="14299" cap="sq">
              <a:solidFill>
                <a:srgbClr val="E7E3F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736353" y="5765225"/>
            <a:ext cx="960872" cy="960872"/>
            <a:chOff x="0" y="0"/>
            <a:chExt cx="1281163" cy="12811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F2592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736353" y="5765225"/>
            <a:ext cx="960872" cy="960872"/>
            <a:chOff x="0" y="0"/>
            <a:chExt cx="1281163" cy="12811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1161" cy="1281161"/>
            </a:xfrm>
            <a:custGeom>
              <a:avLst/>
              <a:gdLst/>
              <a:ahLst/>
              <a:cxnLst/>
              <a:rect r="r" b="b" t="t" l="l"/>
              <a:pathLst>
                <a:path h="1281161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281163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971755" y="5677538"/>
            <a:ext cx="4461186" cy="56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Audiencia secundaria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71755" y="6277318"/>
            <a:ext cx="4461186" cy="145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Investigadores, estudiantes y equipos de datos que usan datos abiertos de accidentes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021137" y="9658293"/>
            <a:ext cx="68633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617706"/>
            <a:ext cx="18301840" cy="1372676"/>
            <a:chOff x="0" y="0"/>
            <a:chExt cx="24402453" cy="18302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241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7706" y="617706"/>
            <a:ext cx="17021137" cy="1372676"/>
            <a:chOff x="0" y="0"/>
            <a:chExt cx="22694849" cy="1830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94850" cy="1830230"/>
            </a:xfrm>
            <a:custGeom>
              <a:avLst/>
              <a:gdLst/>
              <a:ahLst/>
              <a:cxnLst/>
              <a:rect r="r" b="b" t="t" l="l"/>
              <a:pathLst>
                <a:path h="1830230" w="22694850">
                  <a:moveTo>
                    <a:pt x="0" y="0"/>
                  </a:moveTo>
                  <a:lnTo>
                    <a:pt x="22694850" y="0"/>
                  </a:lnTo>
                  <a:lnTo>
                    <a:pt x="2269485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694849" cy="184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14141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LAS 5 PREGUNTAS Y QUÉ CUBRE EL PROTOTIPO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86336" y="2470810"/>
          <a:ext cx="16872432" cy="5833858"/>
        </p:xfrm>
        <a:graphic>
          <a:graphicData uri="http://schemas.openxmlformats.org/drawingml/2006/table">
            <a:tbl>
              <a:tblPr/>
              <a:tblGrid>
                <a:gridCol w="979770"/>
                <a:gridCol w="7232175"/>
                <a:gridCol w="6729264"/>
                <a:gridCol w="1931223"/>
              </a:tblGrid>
              <a:tr h="694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Pregunta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Vista del prototipo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Estado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10278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¿Dónde y en qué periodos se concentran, y cómo cambia según la fuente?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Mapa del índice ajustado por fuente y año + brush de periodo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Sí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98C"/>
                    </a:solidFill>
                  </a:tcPr>
                </a:tc>
              </a:tr>
              <a:tr h="10278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¿Qué condiciones climáticas los caracterizan?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Gráfico de puntos agrupados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Sí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98C"/>
                    </a:solidFill>
                  </a:tcPr>
                </a:tc>
              </a:tr>
              <a:tr h="10278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¿Cómo varían según la hora y el día?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Heatmap de hora × día + reloj de 24 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1" strike="noStrike" u="non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98C"/>
                    </a:solidFill>
                  </a:tcPr>
                </a:tc>
              </a:tr>
              <a:tr h="10278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¿Qué infraestructura vial aparece con más frecuencia?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01" strike="noStrike" u="none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Gráfico de puntos agrupados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1" strike="noStrike" u="non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98C"/>
                    </a:solidFill>
                  </a:tcPr>
                </a:tc>
              </a:tr>
              <a:tr h="10278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¿Qué diferencias hay entre dos regiones comparables?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Fijar A y B: comparar dos estados o condados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1" strike="noStrike" u="non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98C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7021137" y="9658293"/>
            <a:ext cx="68633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17706"/>
            <a:ext cx="18301840" cy="1372676"/>
            <a:chOff x="0" y="0"/>
            <a:chExt cx="24402453" cy="1830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617706"/>
            <a:ext cx="17021137" cy="1372676"/>
            <a:chOff x="0" y="0"/>
            <a:chExt cx="22694849" cy="1830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94850" cy="1830230"/>
            </a:xfrm>
            <a:custGeom>
              <a:avLst/>
              <a:gdLst/>
              <a:ahLst/>
              <a:cxnLst/>
              <a:rect r="r" b="b" t="t" l="l"/>
              <a:pathLst>
                <a:path h="1830230" w="22694850">
                  <a:moveTo>
                    <a:pt x="0" y="0"/>
                  </a:moveTo>
                  <a:lnTo>
                    <a:pt x="22694850" y="0"/>
                  </a:lnTo>
                  <a:lnTo>
                    <a:pt x="2269485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2694849" cy="184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14141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INSPIRACIÓN: QUÉ TOMAMOS DE CADA PAPER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9190" y="2257758"/>
            <a:ext cx="8250336" cy="3240081"/>
            <a:chOff x="0" y="0"/>
            <a:chExt cx="11000448" cy="43201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00486" cy="4320159"/>
            </a:xfrm>
            <a:custGeom>
              <a:avLst/>
              <a:gdLst/>
              <a:ahLst/>
              <a:cxnLst/>
              <a:rect r="r" b="b" t="t" l="l"/>
              <a:pathLst>
                <a:path h="4320159" w="1100048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779887" y="0"/>
                  </a:lnTo>
                  <a:cubicBezTo>
                    <a:pt x="10901680" y="0"/>
                    <a:pt x="11000486" y="98806"/>
                    <a:pt x="11000486" y="220599"/>
                  </a:cubicBezTo>
                  <a:lnTo>
                    <a:pt x="11000486" y="4099560"/>
                  </a:lnTo>
                  <a:cubicBezTo>
                    <a:pt x="11000486" y="4221353"/>
                    <a:pt x="10901680" y="4320159"/>
                    <a:pt x="10779887" y="4320159"/>
                  </a:cubicBezTo>
                  <a:lnTo>
                    <a:pt x="220599" y="4320159"/>
                  </a:lnTo>
                  <a:cubicBezTo>
                    <a:pt x="98806" y="4320159"/>
                    <a:pt x="0" y="4221353"/>
                    <a:pt x="0" y="4099560"/>
                  </a:cubicBezTo>
                  <a:close/>
                </a:path>
              </a:pathLst>
            </a:custGeom>
            <a:solidFill>
              <a:srgbClr val="F4F2FD"/>
            </a:solidFill>
            <a:ln w="14299" cap="sq">
              <a:solidFill>
                <a:srgbClr val="E7E3F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3421" y="2866253"/>
            <a:ext cx="2608078" cy="2023091"/>
            <a:chOff x="0" y="0"/>
            <a:chExt cx="3477438" cy="2697455"/>
          </a:xfrm>
        </p:grpSpPr>
        <p:sp>
          <p:nvSpPr>
            <p:cNvPr name="Freeform 14" id="14" descr="Figura del paper Fan et al., 2015"/>
            <p:cNvSpPr/>
            <p:nvPr/>
          </p:nvSpPr>
          <p:spPr>
            <a:xfrm flipH="false" flipV="false" rot="0">
              <a:off x="0" y="0"/>
              <a:ext cx="3477387" cy="2697480"/>
            </a:xfrm>
            <a:custGeom>
              <a:avLst/>
              <a:gdLst/>
              <a:ahLst/>
              <a:cxnLst/>
              <a:rect r="r" b="b" t="t" l="l"/>
              <a:pathLst>
                <a:path h="269748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697480"/>
                  </a:lnTo>
                  <a:lnTo>
                    <a:pt x="0" y="2697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27023" y="2257758"/>
            <a:ext cx="8250336" cy="3240081"/>
            <a:chOff x="0" y="0"/>
            <a:chExt cx="11000448" cy="43201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0486" cy="4320159"/>
            </a:xfrm>
            <a:custGeom>
              <a:avLst/>
              <a:gdLst/>
              <a:ahLst/>
              <a:cxnLst/>
              <a:rect r="r" b="b" t="t" l="l"/>
              <a:pathLst>
                <a:path h="4320159" w="1100048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779887" y="0"/>
                  </a:lnTo>
                  <a:cubicBezTo>
                    <a:pt x="10901680" y="0"/>
                    <a:pt x="11000486" y="98806"/>
                    <a:pt x="11000486" y="220599"/>
                  </a:cubicBezTo>
                  <a:lnTo>
                    <a:pt x="11000486" y="4099560"/>
                  </a:lnTo>
                  <a:cubicBezTo>
                    <a:pt x="11000486" y="4221353"/>
                    <a:pt x="10901680" y="4320159"/>
                    <a:pt x="10779887" y="4320159"/>
                  </a:cubicBezTo>
                  <a:lnTo>
                    <a:pt x="220599" y="4320159"/>
                  </a:lnTo>
                  <a:cubicBezTo>
                    <a:pt x="98806" y="4320159"/>
                    <a:pt x="0" y="4221353"/>
                    <a:pt x="0" y="4099560"/>
                  </a:cubicBezTo>
                  <a:close/>
                </a:path>
              </a:pathLst>
            </a:custGeom>
            <a:solidFill>
              <a:srgbClr val="F4F2FD"/>
            </a:solidFill>
            <a:ln w="14299" cap="sq">
              <a:solidFill>
                <a:srgbClr val="E7E3F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81255" y="2865634"/>
            <a:ext cx="2608078" cy="2024320"/>
            <a:chOff x="0" y="0"/>
            <a:chExt cx="3477438" cy="2699093"/>
          </a:xfrm>
        </p:grpSpPr>
        <p:sp>
          <p:nvSpPr>
            <p:cNvPr name="Freeform 18" id="18" descr="Figura del paper Sunkpho y Wipulanusat, 2020"/>
            <p:cNvSpPr/>
            <p:nvPr/>
          </p:nvSpPr>
          <p:spPr>
            <a:xfrm flipH="false" flipV="false" rot="0">
              <a:off x="0" y="0"/>
              <a:ext cx="3477387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699131"/>
                  </a:lnTo>
                  <a:lnTo>
                    <a:pt x="0" y="2699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9190" y="5689444"/>
            <a:ext cx="8250336" cy="3240081"/>
            <a:chOff x="0" y="0"/>
            <a:chExt cx="11000448" cy="43201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00486" cy="4320159"/>
            </a:xfrm>
            <a:custGeom>
              <a:avLst/>
              <a:gdLst/>
              <a:ahLst/>
              <a:cxnLst/>
              <a:rect r="r" b="b" t="t" l="l"/>
              <a:pathLst>
                <a:path h="4320159" w="1100048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779887" y="0"/>
                  </a:lnTo>
                  <a:cubicBezTo>
                    <a:pt x="10901680" y="0"/>
                    <a:pt x="11000486" y="98806"/>
                    <a:pt x="11000486" y="220599"/>
                  </a:cubicBezTo>
                  <a:lnTo>
                    <a:pt x="11000486" y="4099560"/>
                  </a:lnTo>
                  <a:cubicBezTo>
                    <a:pt x="11000486" y="4221353"/>
                    <a:pt x="10901680" y="4320159"/>
                    <a:pt x="10779887" y="4320159"/>
                  </a:cubicBezTo>
                  <a:lnTo>
                    <a:pt x="220599" y="4320159"/>
                  </a:lnTo>
                  <a:cubicBezTo>
                    <a:pt x="98806" y="4320159"/>
                    <a:pt x="0" y="4221353"/>
                    <a:pt x="0" y="4099560"/>
                  </a:cubicBezTo>
                  <a:close/>
                </a:path>
              </a:pathLst>
            </a:custGeom>
            <a:solidFill>
              <a:srgbClr val="F4F2FD"/>
            </a:solidFill>
            <a:ln w="14299" cap="sq">
              <a:solidFill>
                <a:srgbClr val="E7E3F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7023" y="5689444"/>
            <a:ext cx="8250336" cy="3240081"/>
            <a:chOff x="0" y="0"/>
            <a:chExt cx="11000448" cy="43201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0486" cy="4320159"/>
            </a:xfrm>
            <a:custGeom>
              <a:avLst/>
              <a:gdLst/>
              <a:ahLst/>
              <a:cxnLst/>
              <a:rect r="r" b="b" t="t" l="l"/>
              <a:pathLst>
                <a:path h="4320159" w="11000486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779887" y="0"/>
                  </a:lnTo>
                  <a:cubicBezTo>
                    <a:pt x="10901680" y="0"/>
                    <a:pt x="11000486" y="98806"/>
                    <a:pt x="11000486" y="220599"/>
                  </a:cubicBezTo>
                  <a:lnTo>
                    <a:pt x="11000486" y="4099560"/>
                  </a:lnTo>
                  <a:cubicBezTo>
                    <a:pt x="11000486" y="4221353"/>
                    <a:pt x="10901680" y="4320159"/>
                    <a:pt x="10779887" y="4320159"/>
                  </a:cubicBezTo>
                  <a:lnTo>
                    <a:pt x="220599" y="4320159"/>
                  </a:lnTo>
                  <a:cubicBezTo>
                    <a:pt x="98806" y="4320159"/>
                    <a:pt x="0" y="4221353"/>
                    <a:pt x="0" y="4099560"/>
                  </a:cubicBezTo>
                  <a:close/>
                </a:path>
              </a:pathLst>
            </a:custGeom>
            <a:solidFill>
              <a:srgbClr val="F4F2FD"/>
            </a:solidFill>
            <a:ln w="14299" cap="sq">
              <a:solidFill>
                <a:srgbClr val="E7E3F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81255" y="6718744"/>
            <a:ext cx="2608078" cy="1181481"/>
            <a:chOff x="0" y="0"/>
            <a:chExt cx="3477438" cy="1575308"/>
          </a:xfrm>
        </p:grpSpPr>
        <p:sp>
          <p:nvSpPr>
            <p:cNvPr name="Freeform 24" id="24" descr="Figura del paper TripVista · Guo et al., 2011"/>
            <p:cNvSpPr/>
            <p:nvPr/>
          </p:nvSpPr>
          <p:spPr>
            <a:xfrm flipH="false" flipV="false" rot="0">
              <a:off x="0" y="0"/>
              <a:ext cx="3477387" cy="1575308"/>
            </a:xfrm>
            <a:custGeom>
              <a:avLst/>
              <a:gdLst/>
              <a:ahLst/>
              <a:cxnLst/>
              <a:rect r="r" b="b" t="t" l="l"/>
              <a:pathLst>
                <a:path h="1575308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1575308"/>
                  </a:lnTo>
                  <a:lnTo>
                    <a:pt x="0" y="1575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920131" y="6282642"/>
            <a:ext cx="2634658" cy="1705929"/>
          </a:xfrm>
          <a:custGeom>
            <a:avLst/>
            <a:gdLst/>
            <a:ahLst/>
            <a:cxnLst/>
            <a:rect r="r" b="b" t="t" l="l"/>
            <a:pathLst>
              <a:path h="1705929" w="2634658">
                <a:moveTo>
                  <a:pt x="0" y="0"/>
                </a:moveTo>
                <a:lnTo>
                  <a:pt x="2634659" y="0"/>
                </a:lnTo>
                <a:lnTo>
                  <a:pt x="2634659" y="1705929"/>
                </a:lnTo>
                <a:lnTo>
                  <a:pt x="0" y="17059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74853" y="2420102"/>
            <a:ext cx="4941618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Fan et al., 2015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74853" y="2849832"/>
            <a:ext cx="4941618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Accidentes de Xiamen (China), espacio + tiempo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74853" y="3234185"/>
            <a:ext cx="4941618" cy="10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Mapa a varias escalas (puntos → región → vía) y laborables frente a fin de semana.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74853" y="4263685"/>
            <a:ext cx="4941618" cy="111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En VIZU: </a:t>
            </a:r>
            <a:r>
              <a:rPr lang="en-US" sz="165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Navegación USA → estado → condado → ciudad, y laborables frente a fin de semana en el heatmap (T3).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22686" y="2420102"/>
            <a:ext cx="4941618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Sunkpho y Wipulanusat, 2020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22686" y="2849832"/>
            <a:ext cx="4941618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Accidentes de Año Nuevo en Tailandia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22686" y="3234185"/>
            <a:ext cx="4941618" cy="10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Un solo dashboard con filtros por provincia y año; mapa con representación proporcional.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22686" y="4263685"/>
            <a:ext cx="4941618" cy="111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En VIZU: </a:t>
            </a:r>
            <a:r>
              <a:rPr lang="en-US" sz="165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Filtros compartidos de fuente y periodo, y el mapa coloreado por el índice ajustado (T1).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74853" y="5851789"/>
            <a:ext cx="4941618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JamVis · Rodriguez et al., 2022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74853" y="6281518"/>
            <a:ext cx="4941618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Atascos y alertas de Waze · equipo de la UCSP, Arequipa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74853" y="6665862"/>
            <a:ext cx="49416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El mapa como punto de entrada, zoom y pan por niveles, vistas enlazadas y focus + context.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774853" y="7695371"/>
            <a:ext cx="4941618" cy="111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En VIZU: </a:t>
            </a:r>
            <a:r>
              <a:rPr lang="en-US" sz="165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Mapa Mapbox como entrada y vías coloreadas según los accidentes, como un mapa de tráfico.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22686" y="5851789"/>
            <a:ext cx="4941618" cy="4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TripVista · Guo et al., 2011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22686" y="6281518"/>
            <a:ext cx="4941618" cy="36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Trayectorias de vehículos y peatones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22686" y="6665862"/>
            <a:ext cx="4941618" cy="10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Tres perspectivas enlazadas (espacio, tiempo, multivariable) con brushing y lazo.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22686" y="7695371"/>
            <a:ext cx="4941618" cy="111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En VIZU: </a:t>
            </a:r>
            <a:r>
              <a:rPr lang="en-US" sz="1651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Una sola pantalla: panel, mapa, columna de vistas enlazadas y brush de tiempo abajo.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021137" y="9658293"/>
            <a:ext cx="68633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17706"/>
            <a:ext cx="18301840" cy="1372676"/>
            <a:chOff x="0" y="0"/>
            <a:chExt cx="24402453" cy="1830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617706"/>
            <a:ext cx="17021137" cy="1372672"/>
            <a:chOff x="0" y="0"/>
            <a:chExt cx="22694849" cy="18302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94850" cy="1830225"/>
            </a:xfrm>
            <a:custGeom>
              <a:avLst/>
              <a:gdLst/>
              <a:ahLst/>
              <a:cxnLst/>
              <a:rect r="r" b="b" t="t" l="l"/>
              <a:pathLst>
                <a:path h="1830225" w="22694850">
                  <a:moveTo>
                    <a:pt x="0" y="0"/>
                  </a:moveTo>
                  <a:lnTo>
                    <a:pt x="22694850" y="0"/>
                  </a:lnTo>
                  <a:lnTo>
                    <a:pt x="22694850" y="1830225"/>
                  </a:lnTo>
                  <a:lnTo>
                    <a:pt x="0" y="1830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2694849" cy="184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14141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· VISTA PRINCIPAL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61838" y="2152307"/>
            <a:ext cx="16115167" cy="7412977"/>
          </a:xfrm>
          <a:custGeom>
            <a:avLst/>
            <a:gdLst/>
            <a:ahLst/>
            <a:cxnLst/>
            <a:rect r="r" b="b" t="t" l="l"/>
            <a:pathLst>
              <a:path h="7412977" w="16115167">
                <a:moveTo>
                  <a:pt x="0" y="0"/>
                </a:moveTo>
                <a:lnTo>
                  <a:pt x="16115167" y="0"/>
                </a:lnTo>
                <a:lnTo>
                  <a:pt x="16115167" y="7412977"/>
                </a:lnTo>
                <a:lnTo>
                  <a:pt x="0" y="7412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1137" y="9658293"/>
            <a:ext cx="68633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617706"/>
            <a:ext cx="18301840" cy="1372676"/>
            <a:chOff x="0" y="0"/>
            <a:chExt cx="24402453" cy="18302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241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7706" y="617706"/>
            <a:ext cx="17021137" cy="1372676"/>
            <a:chOff x="0" y="0"/>
            <a:chExt cx="22694849" cy="1830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94850" cy="1830230"/>
            </a:xfrm>
            <a:custGeom>
              <a:avLst/>
              <a:gdLst/>
              <a:ahLst/>
              <a:cxnLst/>
              <a:rect r="r" b="b" t="t" l="l"/>
              <a:pathLst>
                <a:path h="1830230" w="22694850">
                  <a:moveTo>
                    <a:pt x="0" y="0"/>
                  </a:moveTo>
                  <a:lnTo>
                    <a:pt x="22694850" y="0"/>
                  </a:lnTo>
                  <a:lnTo>
                    <a:pt x="2269485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0" b="-1916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694849" cy="184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14141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DECISIONES DE DISEÑO Y ALTERNATIVAS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17706" y="2152307"/>
          <a:ext cx="16891496" cy="7796080"/>
        </p:xfrm>
        <a:graphic>
          <a:graphicData uri="http://schemas.openxmlformats.org/drawingml/2006/table">
            <a:tbl>
              <a:tblPr/>
              <a:tblGrid>
                <a:gridCol w="5344261"/>
                <a:gridCol w="5957628"/>
                <a:gridCol w="5589608"/>
              </a:tblGrid>
              <a:tr h="6008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Decidimos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Por qué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Alternativa y por qué 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Source como filtro de primer nivel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Cada fuente etiqueta la severidad con su propio criterio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Juntar todas las fuentes: conclusiones engañosas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Mapa por índice ajustado (observados ÷ esperados)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Permite c</a:t>
                      </a: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omparar áreas considerando las diferencias entre fuentes y años.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Proporción bruta o conteo: premia a la fuente que marca más alto o a los estados con más registros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Vistas coordinadas: mapa, temporal y perfil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Permiten explor</a:t>
                      </a: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 los accidentes manteniendo el contexto geográfico y temporal.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Gráficos independientes: dificultan identificar qué filtros están aplicados.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Temporal Brushing &amp; Linking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34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1" strike="noStrike" u="none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Facilita seleccionar periodos y actualizar las visualizaciones simultáneamente.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de año: limita el análisis a intervalos predefinidos.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Muestra fija por área y tope de 2 500 puntos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navegador no dibuja 7,7 M de puntos; los totales salen del conjunto completo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Solo agregados: se pierde el detalle de calle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Cleveland Dot Plot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</a:t>
                      </a: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arar índices por infraestructura y clima.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Barras agrupadas: mayor saturación visual.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78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</a:t>
                      </a:r>
                      <a:r>
                        <a:rPr lang="en-US" sz="1951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eatmap de día y hora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dentificar patrones temporales y filtrar horas.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951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arras y slider: menor integración temporal.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7021137" y="9658293"/>
            <a:ext cx="68633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617706"/>
            <a:chOff x="0" y="0"/>
            <a:chExt cx="24402453" cy="823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823595"/>
            </a:xfrm>
            <a:custGeom>
              <a:avLst/>
              <a:gdLst/>
              <a:ahLst/>
              <a:cxnLst/>
              <a:rect r="r" b="b" t="t" l="l"/>
              <a:pathLst>
                <a:path h="8235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E7E3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164725"/>
            <a:ext cx="288265" cy="288265"/>
            <a:chOff x="0" y="0"/>
            <a:chExt cx="384353" cy="384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lnTo>
                    <a:pt x="329438" y="0"/>
                  </a:lnTo>
                  <a:cubicBezTo>
                    <a:pt x="359791" y="0"/>
                    <a:pt x="384302" y="24638"/>
                    <a:pt x="384302" y="54864"/>
                  </a:cubicBezTo>
                  <a:lnTo>
                    <a:pt x="384302" y="329438"/>
                  </a:lnTo>
                  <a:cubicBezTo>
                    <a:pt x="384302" y="359791"/>
                    <a:pt x="359664" y="384302"/>
                    <a:pt x="329438" y="384302"/>
                  </a:cubicBezTo>
                  <a:lnTo>
                    <a:pt x="54864" y="384302"/>
                  </a:lnTo>
                  <a:cubicBezTo>
                    <a:pt x="24638" y="384302"/>
                    <a:pt x="0" y="359791"/>
                    <a:pt x="0" y="329438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686" y="104489"/>
            <a:ext cx="274534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41414"/>
                </a:solidFill>
                <a:latin typeface="Arial Bold"/>
                <a:ea typeface="Arial Bold"/>
                <a:cs typeface="Arial Bold"/>
                <a:sym typeface="Arial Bold"/>
              </a:rPr>
              <a:t>VIZU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617706"/>
            <a:ext cx="18301840" cy="1372676"/>
            <a:chOff x="0" y="0"/>
            <a:chExt cx="24402453" cy="18302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241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2F98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7706" y="617706"/>
            <a:ext cx="17021137" cy="1263992"/>
            <a:chOff x="0" y="0"/>
            <a:chExt cx="22694849" cy="16853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94850" cy="1685317"/>
            </a:xfrm>
            <a:custGeom>
              <a:avLst/>
              <a:gdLst/>
              <a:ahLst/>
              <a:cxnLst/>
              <a:rect r="r" b="b" t="t" l="l"/>
              <a:pathLst>
                <a:path h="1685317" w="22694850">
                  <a:moveTo>
                    <a:pt x="0" y="0"/>
                  </a:moveTo>
                  <a:lnTo>
                    <a:pt x="22694850" y="0"/>
                  </a:lnTo>
                  <a:lnTo>
                    <a:pt x="22694850" y="1685317"/>
                  </a:lnTo>
                  <a:lnTo>
                    <a:pt x="0" y="1685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090" r="0" b="-21668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694849" cy="1704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021137" y="9658293"/>
            <a:ext cx="686333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86336" y="2333543"/>
          <a:ext cx="16891496" cy="5275169"/>
        </p:xfrm>
        <a:graphic>
          <a:graphicData uri="http://schemas.openxmlformats.org/drawingml/2006/table">
            <a:tbl>
              <a:tblPr/>
              <a:tblGrid>
                <a:gridCol w="8464594"/>
                <a:gridCol w="8426902"/>
              </a:tblGrid>
              <a:tr h="6965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OBSERVACIÓN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CORRECCIÓN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10706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Limita</a:t>
                      </a:r>
                      <a:r>
                        <a:rPr lang="en-US" sz="2400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 el lazo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lazo está limitado a 5 km a la redonda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06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Mejorar la visualización de los condados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Visualización del mapa optimizada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65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Falta incorporar una línea de tiempo interactiva que permita explorar los accidentes por periodos.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agregó la línea de tiempo con brush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06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4141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Agregar colores por tramos a los caminos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4141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Agregado en la visualización del mapa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Title" id="15"/>
          <p:cNvGrpSpPr/>
          <p:nvPr/>
        </p:nvGrpSpPr>
        <p:grpSpPr>
          <a:xfrm rot="0">
            <a:off x="617706" y="617706"/>
            <a:ext cx="17021137" cy="1372676"/>
            <a:chOff x="0" y="0"/>
            <a:chExt cx="22694849" cy="1830235"/>
          </a:xfrm>
        </p:grpSpPr>
        <p:sp>
          <p:nvSpPr>
            <p:cNvPr name="TextBox 11" id="14"/>
            <p:cNvSpPr txBox="true"/>
            <p:nvPr/>
          </p:nvSpPr>
          <p:spPr>
            <a:xfrm>
              <a:off x="0" y="-19050"/>
              <a:ext cx="22694849" cy="184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14141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FEEDBACK DEL DESIGN REVIEW Y RESPUESTA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DAHZQwS9Qm4</dc:identifier>
  <dcterms:modified xsi:type="dcterms:W3CDTF">2011-08-01T06:04:30Z</dcterms:modified>
  <cp:revision>1</cp:revision>
  <dc:title>Entrega5</dc:title>
</cp:coreProperties>
</file>