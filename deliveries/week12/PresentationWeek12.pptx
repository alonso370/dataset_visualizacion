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3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18288000" cy="10287000"/>
  <p:notesSz cx="6858000" cy="9144000"/>
  <p:embeddedFontLst>
    <p:embeddedFont>
      <p:font typeface="Arial Bold" charset="1" panose="020B0704020202020204"/>
      <p:regular r:id="rId16"/>
    </p:embeddedFont>
    <p:embeddedFont>
      <p:font typeface="Arial" charset="1" panose="020B0604020202020204"/>
      <p:regular r:id="rId17"/>
    </p:embeddedFont>
    <p:embeddedFont>
      <p:font typeface="Rubik Mono" charset="1" panose="02000504020000020004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notesMasters/notesMaster1.xml" Type="http://schemas.openxmlformats.org/officeDocument/2006/relationships/notesMaster"/><Relationship Id="rId14" Target="theme/theme2.xml" Type="http://schemas.openxmlformats.org/officeDocument/2006/relationships/theme"/><Relationship Id="rId15" Target="notesSlides/notesSlide1.xml" Type="http://schemas.openxmlformats.org/officeDocument/2006/relationships/notesSlide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notesSlides/notesSlide2.xml" Type="http://schemas.openxmlformats.org/officeDocument/2006/relationships/notesSlide"/><Relationship Id="rId2" Target="presProps.xml" Type="http://schemas.openxmlformats.org/officeDocument/2006/relationships/presProps"/><Relationship Id="rId20" Target="notesSlides/notesSlide3.xml" Type="http://schemas.openxmlformats.org/officeDocument/2006/relationships/notesSlide"/><Relationship Id="rId21" Target="notesSlides/notesSlide4.xml" Type="http://schemas.openxmlformats.org/officeDocument/2006/relationships/notesSlide"/><Relationship Id="rId22" Target="notesSlides/notesSlide5.xml" Type="http://schemas.openxmlformats.org/officeDocument/2006/relationships/notesSlide"/><Relationship Id="rId23" Target="notesSlides/notesSlide6.xml" Type="http://schemas.openxmlformats.org/officeDocument/2006/relationships/notesSlide"/><Relationship Id="rId24" Target="notesSlides/notesSlide7.xml" Type="http://schemas.openxmlformats.org/officeDocument/2006/relationships/notesSlide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[0:00-0:15] Presentar al equipo y el objetivo: mostrar el prototipo funcional y pedir feedback concreto en 5 minutos.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[0:15-0:55] El problema y para quién. Severity &gt;= 3 = mayor impacto en el tráfico. Source1 y Source2 etiquetan distinto: por eso la fuente es un filtro del prototipo.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[0:55-1:20] Ser honestos: T1 y T2 cubiertas, T3 a medias, T4 y T5 son lo que falta para la semana 12.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[1:20-1:50] Una frase por paper: de Fan, las escalas y laborables vs. fin de semana; de Sunkpho, el dashboard único con filtros y el mapa proporcional; de JamVis, el mapa como entrada y las vistas enlazadas; de TripVista, el lazo y la vista multivariable enlazada. Lo pendiente: el focus + context temporal de JamVis (brush) es para la semana 12.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[1:50-2:40] DEMO EN VIVO (run_server.bat). Ruta: USA -&gt; clic en California -&gt; totales y RadViz -&gt; clic en Los Angeles -&gt; abrir el reloj y elegir horas pico -&gt; dibujar un lazo. Si falla internet o Mapbox, quedarse en estas capturas.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[3:05-3:55] Contar 2 o 3 decisiones: Source como filtro, proporción en vez de conteo, reloj radial. Las tres primeras filas salen del PrototypeReport; principio general: panorama primero, detalle después (USA -&gt; estado -&gt; condado -&gt; ciudad).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[3:55-4:15] Lo que falta está planificado: T4, T5, despliegue e historia guiada para la semana 12.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Relationship Id="rId5" Target="../media/image3.png" Type="http://schemas.openxmlformats.org/officeDocument/2006/relationships/image"/><Relationship Id="rId6" Target="../media/image4.png" Type="http://schemas.openxmlformats.org/officeDocument/2006/relationships/image"/><Relationship Id="rId7" Target="../media/image5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1.jpeg" Type="http://schemas.openxmlformats.org/officeDocument/2006/relationships/image"/><Relationship Id="rId4" Target="../media/image6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arget="../media/image1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E7E3FB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4941618" cy="10295039"/>
            <a:chOff x="0" y="0"/>
            <a:chExt cx="658882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6588887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6588887">
                  <a:moveTo>
                    <a:pt x="0" y="0"/>
                  </a:moveTo>
                  <a:lnTo>
                    <a:pt x="6588887" y="0"/>
                  </a:lnTo>
                  <a:lnTo>
                    <a:pt x="6588887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2592A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0"/>
            <a:ext cx="18301840" cy="617706"/>
            <a:chOff x="0" y="0"/>
            <a:chExt cx="24402453" cy="82360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402414" cy="823595"/>
            </a:xfrm>
            <a:custGeom>
              <a:avLst/>
              <a:gdLst/>
              <a:ahLst/>
              <a:cxnLst/>
              <a:rect r="r" b="b" t="t" l="l"/>
              <a:pathLst>
                <a:path h="823595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823595"/>
                  </a:lnTo>
                  <a:lnTo>
                    <a:pt x="0" y="823595"/>
                  </a:lnTo>
                  <a:close/>
                </a:path>
              </a:pathLst>
            </a:custGeom>
            <a:solidFill>
              <a:srgbClr val="E2F98C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17706" y="164725"/>
            <a:ext cx="288265" cy="288265"/>
            <a:chOff x="0" y="0"/>
            <a:chExt cx="384353" cy="384353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84302" cy="384302"/>
            </a:xfrm>
            <a:custGeom>
              <a:avLst/>
              <a:gdLst/>
              <a:ahLst/>
              <a:cxnLst/>
              <a:rect r="r" b="b" t="t" l="l"/>
              <a:pathLst>
                <a:path h="384302" w="384302">
                  <a:moveTo>
                    <a:pt x="0" y="54864"/>
                  </a:moveTo>
                  <a:cubicBezTo>
                    <a:pt x="0" y="24638"/>
                    <a:pt x="24638" y="0"/>
                    <a:pt x="54864" y="0"/>
                  </a:cubicBezTo>
                  <a:lnTo>
                    <a:pt x="329438" y="0"/>
                  </a:lnTo>
                  <a:cubicBezTo>
                    <a:pt x="359791" y="0"/>
                    <a:pt x="384302" y="24638"/>
                    <a:pt x="384302" y="54864"/>
                  </a:cubicBezTo>
                  <a:lnTo>
                    <a:pt x="384302" y="329438"/>
                  </a:lnTo>
                  <a:cubicBezTo>
                    <a:pt x="384302" y="359791"/>
                    <a:pt x="359664" y="384302"/>
                    <a:pt x="329438" y="384302"/>
                  </a:cubicBezTo>
                  <a:lnTo>
                    <a:pt x="54864" y="384302"/>
                  </a:lnTo>
                  <a:cubicBezTo>
                    <a:pt x="24638" y="384302"/>
                    <a:pt x="0" y="359791"/>
                    <a:pt x="0" y="329438"/>
                  </a:cubicBezTo>
                  <a:close/>
                </a:path>
              </a:pathLst>
            </a:custGeom>
            <a:solidFill>
              <a:srgbClr val="141414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070686" y="104489"/>
            <a:ext cx="2745343" cy="4308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141414"/>
                </a:solidFill>
                <a:latin typeface="Arial Bold"/>
                <a:ea typeface="Arial Bold"/>
                <a:cs typeface="Arial Bold"/>
                <a:sym typeface="Arial Bold"/>
              </a:rPr>
              <a:t>VIZU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765225" y="7608808"/>
            <a:ext cx="11804980" cy="12449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4A4A4A"/>
                </a:solidFill>
                <a:latin typeface="Arial"/>
                <a:ea typeface="Arial"/>
                <a:cs typeface="Arial"/>
                <a:sym typeface="Arial"/>
              </a:rPr>
              <a:t>Angel Tito Berrocal · Gianella Lira Ñaupari · Gady Enciso Gomez · Oscar Alonso Gomez Marin</a:t>
            </a:r>
          </a:p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4A4A4A"/>
                </a:solidFill>
                <a:latin typeface="Arial"/>
                <a:ea typeface="Arial"/>
                <a:cs typeface="Arial"/>
                <a:sym typeface="Arial"/>
              </a:rPr>
              <a:t>DS-5343 Visualización de Datos · UTEC 2026-2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17706" y="6628886"/>
            <a:ext cx="4118019" cy="12639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05"/>
              </a:lnSpc>
            </a:pPr>
            <a:r>
              <a:rPr lang="en-US" sz="6004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7,7 M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17706" y="7951975"/>
            <a:ext cx="3843480" cy="12449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accidentes, explorables en el navegador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5161683" y="2109871"/>
            <a:ext cx="13126317" cy="48513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499"/>
              </a:lnSpc>
            </a:pPr>
            <a:r>
              <a:rPr lang="en-US" sz="9499">
                <a:solidFill>
                  <a:srgbClr val="000000"/>
                </a:solidFill>
                <a:latin typeface="Rubik Mono"/>
                <a:ea typeface="Rubik Mono"/>
                <a:cs typeface="Rubik Mono"/>
                <a:sym typeface="Rubik Mono"/>
              </a:rPr>
              <a:t>Accidentes de transito en USA (2016-2023)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617706"/>
            <a:chOff x="0" y="0"/>
            <a:chExt cx="24402453" cy="82360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2414" cy="823595"/>
            </a:xfrm>
            <a:custGeom>
              <a:avLst/>
              <a:gdLst/>
              <a:ahLst/>
              <a:cxnLst/>
              <a:rect r="r" b="b" t="t" l="l"/>
              <a:pathLst>
                <a:path h="823595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823595"/>
                  </a:lnTo>
                  <a:lnTo>
                    <a:pt x="0" y="823595"/>
                  </a:lnTo>
                  <a:close/>
                </a:path>
              </a:pathLst>
            </a:custGeom>
            <a:solidFill>
              <a:srgbClr val="E7E3FB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17706" y="164725"/>
            <a:ext cx="288265" cy="288265"/>
            <a:chOff x="0" y="0"/>
            <a:chExt cx="384353" cy="38435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84302" cy="384302"/>
            </a:xfrm>
            <a:custGeom>
              <a:avLst/>
              <a:gdLst/>
              <a:ahLst/>
              <a:cxnLst/>
              <a:rect r="r" b="b" t="t" l="l"/>
              <a:pathLst>
                <a:path h="384302" w="384302">
                  <a:moveTo>
                    <a:pt x="0" y="54864"/>
                  </a:moveTo>
                  <a:cubicBezTo>
                    <a:pt x="0" y="24638"/>
                    <a:pt x="24638" y="0"/>
                    <a:pt x="54864" y="0"/>
                  </a:cubicBezTo>
                  <a:lnTo>
                    <a:pt x="329438" y="0"/>
                  </a:lnTo>
                  <a:cubicBezTo>
                    <a:pt x="359791" y="0"/>
                    <a:pt x="384302" y="24638"/>
                    <a:pt x="384302" y="54864"/>
                  </a:cubicBezTo>
                  <a:lnTo>
                    <a:pt x="384302" y="329438"/>
                  </a:lnTo>
                  <a:cubicBezTo>
                    <a:pt x="384302" y="359791"/>
                    <a:pt x="359664" y="384302"/>
                    <a:pt x="329438" y="384302"/>
                  </a:cubicBezTo>
                  <a:lnTo>
                    <a:pt x="54864" y="384302"/>
                  </a:lnTo>
                  <a:cubicBezTo>
                    <a:pt x="24638" y="384302"/>
                    <a:pt x="0" y="359791"/>
                    <a:pt x="0" y="329438"/>
                  </a:cubicBezTo>
                  <a:close/>
                </a:path>
              </a:pathLst>
            </a:custGeom>
            <a:solidFill>
              <a:srgbClr val="141414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1070686" y="104489"/>
            <a:ext cx="2745343" cy="4308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141414"/>
                </a:solidFill>
                <a:latin typeface="Arial Bold"/>
                <a:ea typeface="Arial Bold"/>
                <a:cs typeface="Arial Bold"/>
                <a:sym typeface="Arial Bold"/>
              </a:rPr>
              <a:t>VIZU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0" y="617706"/>
            <a:ext cx="18301840" cy="1372676"/>
            <a:chOff x="0" y="0"/>
            <a:chExt cx="24402453" cy="1830235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4402414" cy="1830197"/>
            </a:xfrm>
            <a:custGeom>
              <a:avLst/>
              <a:gdLst/>
              <a:ahLst/>
              <a:cxnLst/>
              <a:rect r="r" b="b" t="t" l="l"/>
              <a:pathLst>
                <a:path h="1830197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830197"/>
                  </a:lnTo>
                  <a:lnTo>
                    <a:pt x="0" y="1830197"/>
                  </a:lnTo>
                  <a:close/>
                </a:path>
              </a:pathLst>
            </a:custGeom>
            <a:solidFill>
              <a:srgbClr val="E2F98C"/>
            </a:solidFill>
          </p:spPr>
        </p:sp>
      </p:grpSp>
      <p:grpSp>
        <p:nvGrpSpPr>
          <p:cNvPr name="Group 9" id="9"/>
          <p:cNvGrpSpPr/>
          <p:nvPr/>
        </p:nvGrpSpPr>
        <p:grpSpPr>
          <a:xfrm rot="0">
            <a:off x="617706" y="617706"/>
            <a:ext cx="17021137" cy="1372676"/>
            <a:chOff x="0" y="0"/>
            <a:chExt cx="22694849" cy="183023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2694850" cy="1830230"/>
            </a:xfrm>
            <a:custGeom>
              <a:avLst/>
              <a:gdLst/>
              <a:ahLst/>
              <a:cxnLst/>
              <a:rect r="r" b="b" t="t" l="l"/>
              <a:pathLst>
                <a:path h="1830230" w="22694850">
                  <a:moveTo>
                    <a:pt x="0" y="0"/>
                  </a:moveTo>
                  <a:lnTo>
                    <a:pt x="22694850" y="0"/>
                  </a:lnTo>
                  <a:lnTo>
                    <a:pt x="22694850" y="1830230"/>
                  </a:lnTo>
                  <a:lnTo>
                    <a:pt x="0" y="183023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1614" r="0" b="-191614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19050"/>
              <a:ext cx="22694849" cy="18492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043"/>
                </a:lnSpc>
              </a:pPr>
              <a:r>
                <a:rPr lang="en-US" sz="4203" b="true">
                  <a:solidFill>
                    <a:srgbClr val="141414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PROBLEMA Y AUDIENCIA</a:t>
              </a: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686333" y="2373601"/>
            <a:ext cx="9883245" cy="17444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63"/>
              </a:lnSpc>
            </a:pPr>
            <a:r>
              <a:rPr lang="en-US" sz="3302" b="true">
                <a:solidFill>
                  <a:srgbClr val="141414"/>
                </a:solidFill>
                <a:latin typeface="Arial Bold"/>
                <a:ea typeface="Arial Bold"/>
                <a:cs typeface="Arial Bold"/>
                <a:sym typeface="Arial Bold"/>
              </a:rPr>
              <a:t>¿Dónde y cuándo se concentran los accidentes de mayor impacto en Estados Unidos, y bajo qué condiciones?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86333" y="4236234"/>
            <a:ext cx="9883245" cy="23525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07830" indent="-203915" lvl="1">
              <a:lnSpc>
                <a:spcPts val="2702"/>
              </a:lnSpc>
              <a:buFont typeface="Arial"/>
              <a:buChar char="•"/>
            </a:pPr>
            <a:r>
              <a:rPr lang="en-US" sz="2251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rPr>
              <a:t>Mayor impacto = Severity ≥ 3: la severidad mide el efecto del accidente sobre el tráfico.</a:t>
            </a:r>
          </a:p>
          <a:p>
            <a:pPr algn="l" marL="407830" indent="-203915" lvl="1">
              <a:lnSpc>
                <a:spcPts val="2702"/>
              </a:lnSpc>
              <a:buFont typeface="Arial"/>
              <a:buChar char="•"/>
            </a:pPr>
            <a:r>
              <a:rPr lang="en-US" sz="2251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rPr>
              <a:t>La fuente del dato (Source1, Source2…) es una variable de control: cada proveedor etiqueta la severidad con su propio criterio.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686333" y="6794725"/>
            <a:ext cx="3088510" cy="2264912"/>
            <a:chOff x="0" y="0"/>
            <a:chExt cx="4118013" cy="3019882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4117975" cy="3019806"/>
            </a:xfrm>
            <a:custGeom>
              <a:avLst/>
              <a:gdLst/>
              <a:ahLst/>
              <a:cxnLst/>
              <a:rect r="r" b="b" t="t" l="l"/>
              <a:pathLst>
                <a:path h="3019806" w="4117975">
                  <a:moveTo>
                    <a:pt x="0" y="219583"/>
                  </a:moveTo>
                  <a:cubicBezTo>
                    <a:pt x="0" y="98298"/>
                    <a:pt x="98298" y="0"/>
                    <a:pt x="219583" y="0"/>
                  </a:cubicBezTo>
                  <a:lnTo>
                    <a:pt x="3898392" y="0"/>
                  </a:lnTo>
                  <a:cubicBezTo>
                    <a:pt x="4019677" y="0"/>
                    <a:pt x="4117975" y="98298"/>
                    <a:pt x="4117975" y="219583"/>
                  </a:cubicBezTo>
                  <a:lnTo>
                    <a:pt x="4117975" y="2800223"/>
                  </a:lnTo>
                  <a:cubicBezTo>
                    <a:pt x="4117975" y="2921508"/>
                    <a:pt x="4019677" y="3019806"/>
                    <a:pt x="3898392" y="3019806"/>
                  </a:cubicBezTo>
                  <a:lnTo>
                    <a:pt x="219583" y="3019806"/>
                  </a:lnTo>
                  <a:cubicBezTo>
                    <a:pt x="98298" y="3019933"/>
                    <a:pt x="0" y="2921508"/>
                    <a:pt x="0" y="2800223"/>
                  </a:cubicBezTo>
                  <a:close/>
                </a:path>
              </a:pathLst>
            </a:custGeom>
            <a:solidFill>
              <a:srgbClr val="E7E3FB"/>
            </a:solid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960872" y="7050214"/>
            <a:ext cx="2676716" cy="9799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2"/>
              </a:lnSpc>
            </a:pPr>
            <a:r>
              <a:rPr lang="en-US" sz="3002" b="true">
                <a:solidFill>
                  <a:srgbClr val="141414"/>
                </a:solidFill>
                <a:latin typeface="Arial Bold"/>
                <a:ea typeface="Arial Bold"/>
                <a:cs typeface="Arial Bold"/>
                <a:sym typeface="Arial Bold"/>
              </a:rPr>
              <a:t>7 728 394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60872" y="8079715"/>
            <a:ext cx="2676716" cy="7053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>
                <a:solidFill>
                  <a:srgbClr val="4A4A4A"/>
                </a:solidFill>
                <a:latin typeface="Arial"/>
                <a:ea typeface="Arial"/>
                <a:cs typeface="Arial"/>
                <a:sym typeface="Arial"/>
              </a:rPr>
              <a:t>accidentes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4049382" y="6794725"/>
            <a:ext cx="3088510" cy="2264912"/>
            <a:chOff x="0" y="0"/>
            <a:chExt cx="4118013" cy="3019882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4117975" cy="3019806"/>
            </a:xfrm>
            <a:custGeom>
              <a:avLst/>
              <a:gdLst/>
              <a:ahLst/>
              <a:cxnLst/>
              <a:rect r="r" b="b" t="t" l="l"/>
              <a:pathLst>
                <a:path h="3019806" w="4117975">
                  <a:moveTo>
                    <a:pt x="0" y="219583"/>
                  </a:moveTo>
                  <a:cubicBezTo>
                    <a:pt x="0" y="98298"/>
                    <a:pt x="98298" y="0"/>
                    <a:pt x="219583" y="0"/>
                  </a:cubicBezTo>
                  <a:lnTo>
                    <a:pt x="3898392" y="0"/>
                  </a:lnTo>
                  <a:cubicBezTo>
                    <a:pt x="4019677" y="0"/>
                    <a:pt x="4117975" y="98298"/>
                    <a:pt x="4117975" y="219583"/>
                  </a:cubicBezTo>
                  <a:lnTo>
                    <a:pt x="4117975" y="2800223"/>
                  </a:lnTo>
                  <a:cubicBezTo>
                    <a:pt x="4117975" y="2921508"/>
                    <a:pt x="4019677" y="3019806"/>
                    <a:pt x="3898392" y="3019806"/>
                  </a:cubicBezTo>
                  <a:lnTo>
                    <a:pt x="219583" y="3019806"/>
                  </a:lnTo>
                  <a:cubicBezTo>
                    <a:pt x="98298" y="3019933"/>
                    <a:pt x="0" y="2921508"/>
                    <a:pt x="0" y="2800223"/>
                  </a:cubicBezTo>
                  <a:close/>
                </a:path>
              </a:pathLst>
            </a:custGeom>
            <a:solidFill>
              <a:srgbClr val="E7E3FB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4323921" y="7040689"/>
            <a:ext cx="2676716" cy="9894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3"/>
              </a:lnSpc>
            </a:pPr>
            <a:r>
              <a:rPr lang="en-US" sz="3602" b="true">
                <a:solidFill>
                  <a:srgbClr val="141414"/>
                </a:solidFill>
                <a:latin typeface="Arial Bold"/>
                <a:ea typeface="Arial Bold"/>
                <a:cs typeface="Arial Bold"/>
                <a:sym typeface="Arial Bold"/>
              </a:rPr>
              <a:t>49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4323921" y="8079715"/>
            <a:ext cx="2676716" cy="7053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>
                <a:solidFill>
                  <a:srgbClr val="4A4A4A"/>
                </a:solidFill>
                <a:latin typeface="Arial"/>
                <a:ea typeface="Arial"/>
                <a:cs typeface="Arial"/>
                <a:sym typeface="Arial"/>
              </a:rPr>
              <a:t>estados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7412431" y="6794725"/>
            <a:ext cx="3088510" cy="2264912"/>
            <a:chOff x="0" y="0"/>
            <a:chExt cx="4118013" cy="3019882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4117975" cy="3019806"/>
            </a:xfrm>
            <a:custGeom>
              <a:avLst/>
              <a:gdLst/>
              <a:ahLst/>
              <a:cxnLst/>
              <a:rect r="r" b="b" t="t" l="l"/>
              <a:pathLst>
                <a:path h="3019806" w="4117975">
                  <a:moveTo>
                    <a:pt x="0" y="219583"/>
                  </a:moveTo>
                  <a:cubicBezTo>
                    <a:pt x="0" y="98298"/>
                    <a:pt x="98298" y="0"/>
                    <a:pt x="219583" y="0"/>
                  </a:cubicBezTo>
                  <a:lnTo>
                    <a:pt x="3898392" y="0"/>
                  </a:lnTo>
                  <a:cubicBezTo>
                    <a:pt x="4019677" y="0"/>
                    <a:pt x="4117975" y="98298"/>
                    <a:pt x="4117975" y="219583"/>
                  </a:cubicBezTo>
                  <a:lnTo>
                    <a:pt x="4117975" y="2800223"/>
                  </a:lnTo>
                  <a:cubicBezTo>
                    <a:pt x="4117975" y="2921508"/>
                    <a:pt x="4019677" y="3019806"/>
                    <a:pt x="3898392" y="3019806"/>
                  </a:cubicBezTo>
                  <a:lnTo>
                    <a:pt x="219583" y="3019806"/>
                  </a:lnTo>
                  <a:cubicBezTo>
                    <a:pt x="98298" y="3019933"/>
                    <a:pt x="0" y="2921508"/>
                    <a:pt x="0" y="2800223"/>
                  </a:cubicBezTo>
                  <a:close/>
                </a:path>
              </a:pathLst>
            </a:custGeom>
            <a:solidFill>
              <a:srgbClr val="E7E3FB"/>
            </a:solidFill>
          </p:spPr>
        </p:sp>
      </p:grpSp>
      <p:sp>
        <p:nvSpPr>
          <p:cNvPr name="TextBox 24" id="24"/>
          <p:cNvSpPr txBox="true"/>
          <p:nvPr/>
        </p:nvSpPr>
        <p:spPr>
          <a:xfrm rot="0">
            <a:off x="7686961" y="7050214"/>
            <a:ext cx="2676716" cy="9799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2"/>
              </a:lnSpc>
            </a:pPr>
            <a:r>
              <a:rPr lang="en-US" sz="3002" b="true">
                <a:solidFill>
                  <a:srgbClr val="141414"/>
                </a:solidFill>
                <a:latin typeface="Arial Bold"/>
                <a:ea typeface="Arial Bold"/>
                <a:cs typeface="Arial Bold"/>
                <a:sym typeface="Arial Bold"/>
              </a:rPr>
              <a:t>2016–2023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7686961" y="8079715"/>
            <a:ext cx="2676716" cy="7053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>
                <a:solidFill>
                  <a:srgbClr val="4A4A4A"/>
                </a:solidFill>
                <a:latin typeface="Arial"/>
                <a:ea typeface="Arial"/>
                <a:cs typeface="Arial"/>
                <a:sym typeface="Arial"/>
              </a:rPr>
              <a:t>feb 2016 a mar 2023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11386033" y="2532297"/>
            <a:ext cx="6259954" cy="2485111"/>
            <a:chOff x="0" y="0"/>
            <a:chExt cx="8346605" cy="3313481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8346567" cy="3313430"/>
            </a:xfrm>
            <a:custGeom>
              <a:avLst/>
              <a:gdLst/>
              <a:ahLst/>
              <a:cxnLst/>
              <a:rect r="r" b="b" t="t" l="l"/>
              <a:pathLst>
                <a:path h="3313430" w="8346567">
                  <a:moveTo>
                    <a:pt x="0" y="220853"/>
                  </a:moveTo>
                  <a:cubicBezTo>
                    <a:pt x="0" y="98933"/>
                    <a:pt x="98933" y="0"/>
                    <a:pt x="220853" y="0"/>
                  </a:cubicBezTo>
                  <a:lnTo>
                    <a:pt x="8125714" y="0"/>
                  </a:lnTo>
                  <a:cubicBezTo>
                    <a:pt x="8247761" y="0"/>
                    <a:pt x="8346567" y="98933"/>
                    <a:pt x="8346567" y="220853"/>
                  </a:cubicBezTo>
                  <a:lnTo>
                    <a:pt x="8346567" y="3092577"/>
                  </a:lnTo>
                  <a:cubicBezTo>
                    <a:pt x="8346567" y="3214624"/>
                    <a:pt x="8247634" y="3313430"/>
                    <a:pt x="8125714" y="3313430"/>
                  </a:cubicBezTo>
                  <a:lnTo>
                    <a:pt x="220853" y="3313430"/>
                  </a:lnTo>
                  <a:cubicBezTo>
                    <a:pt x="98933" y="3313430"/>
                    <a:pt x="0" y="3214624"/>
                    <a:pt x="0" y="3092577"/>
                  </a:cubicBezTo>
                  <a:close/>
                </a:path>
              </a:pathLst>
            </a:custGeom>
            <a:solidFill>
              <a:srgbClr val="F4F2FD"/>
            </a:solidFill>
            <a:ln w="14299" cap="sq">
              <a:solidFill>
                <a:srgbClr val="E7E3FB"/>
              </a:solidFill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11736353" y="2951245"/>
            <a:ext cx="960872" cy="960872"/>
            <a:chOff x="0" y="0"/>
            <a:chExt cx="1281163" cy="1281163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281176" cy="1281176"/>
            </a:xfrm>
            <a:custGeom>
              <a:avLst/>
              <a:gdLst/>
              <a:ahLst/>
              <a:cxnLst/>
              <a:rect r="r" b="b" t="t" l="l"/>
              <a:pathLst>
                <a:path h="1281176" w="1281176">
                  <a:moveTo>
                    <a:pt x="0" y="640588"/>
                  </a:moveTo>
                  <a:cubicBezTo>
                    <a:pt x="0" y="286766"/>
                    <a:pt x="286766" y="0"/>
                    <a:pt x="640588" y="0"/>
                  </a:cubicBezTo>
                  <a:cubicBezTo>
                    <a:pt x="994410" y="0"/>
                    <a:pt x="1281176" y="286766"/>
                    <a:pt x="1281176" y="640588"/>
                  </a:cubicBezTo>
                  <a:cubicBezTo>
                    <a:pt x="1281176" y="994410"/>
                    <a:pt x="994410" y="1281176"/>
                    <a:pt x="640588" y="1281176"/>
                  </a:cubicBezTo>
                  <a:cubicBezTo>
                    <a:pt x="286766" y="1281176"/>
                    <a:pt x="0" y="994410"/>
                    <a:pt x="0" y="640588"/>
                  </a:cubicBezTo>
                  <a:close/>
                </a:path>
              </a:pathLst>
            </a:custGeom>
            <a:solidFill>
              <a:srgbClr val="F2592A"/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11736353" y="2951245"/>
            <a:ext cx="960872" cy="960872"/>
            <a:chOff x="0" y="0"/>
            <a:chExt cx="1281163" cy="1281163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281161" cy="1281161"/>
            </a:xfrm>
            <a:custGeom>
              <a:avLst/>
              <a:gdLst/>
              <a:ahLst/>
              <a:cxnLst/>
              <a:rect r="r" b="b" t="t" l="l"/>
              <a:pathLst>
                <a:path h="1281161" w="1281161">
                  <a:moveTo>
                    <a:pt x="0" y="0"/>
                  </a:moveTo>
                  <a:lnTo>
                    <a:pt x="1281161" y="0"/>
                  </a:lnTo>
                  <a:lnTo>
                    <a:pt x="1281161" y="1281161"/>
                  </a:lnTo>
                  <a:lnTo>
                    <a:pt x="0" y="128116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19050"/>
              <a:ext cx="1281163" cy="13002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2"/>
                </a:lnSpc>
              </a:pPr>
              <a:r>
                <a:rPr lang="en-US" sz="3002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</a:t>
              </a: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12971755" y="2863558"/>
            <a:ext cx="4461186" cy="5681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 b="true">
                <a:solidFill>
                  <a:srgbClr val="141414"/>
                </a:solidFill>
                <a:latin typeface="Arial Bold"/>
                <a:ea typeface="Arial Bold"/>
                <a:cs typeface="Arial Bold"/>
                <a:sym typeface="Arial Bold"/>
              </a:rPr>
              <a:t>Audiencia principal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2971755" y="3463338"/>
            <a:ext cx="4461186" cy="14508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4A4A4A"/>
                </a:solidFill>
                <a:latin typeface="Arial"/>
                <a:ea typeface="Arial"/>
                <a:cs typeface="Arial"/>
                <a:sym typeface="Arial"/>
              </a:rPr>
              <a:t>Analistas de seguridad vial y equipos de planificación urbana</a:t>
            </a:r>
          </a:p>
        </p:txBody>
      </p:sp>
      <p:grpSp>
        <p:nvGrpSpPr>
          <p:cNvPr name="Group 35" id="35"/>
          <p:cNvGrpSpPr/>
          <p:nvPr/>
        </p:nvGrpSpPr>
        <p:grpSpPr>
          <a:xfrm rot="0">
            <a:off x="11386033" y="5346278"/>
            <a:ext cx="6259954" cy="2485111"/>
            <a:chOff x="0" y="0"/>
            <a:chExt cx="8346605" cy="3313481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8346567" cy="3313430"/>
            </a:xfrm>
            <a:custGeom>
              <a:avLst/>
              <a:gdLst/>
              <a:ahLst/>
              <a:cxnLst/>
              <a:rect r="r" b="b" t="t" l="l"/>
              <a:pathLst>
                <a:path h="3313430" w="8346567">
                  <a:moveTo>
                    <a:pt x="0" y="220853"/>
                  </a:moveTo>
                  <a:cubicBezTo>
                    <a:pt x="0" y="98933"/>
                    <a:pt x="98933" y="0"/>
                    <a:pt x="220853" y="0"/>
                  </a:cubicBezTo>
                  <a:lnTo>
                    <a:pt x="8125714" y="0"/>
                  </a:lnTo>
                  <a:cubicBezTo>
                    <a:pt x="8247761" y="0"/>
                    <a:pt x="8346567" y="98933"/>
                    <a:pt x="8346567" y="220853"/>
                  </a:cubicBezTo>
                  <a:lnTo>
                    <a:pt x="8346567" y="3092577"/>
                  </a:lnTo>
                  <a:cubicBezTo>
                    <a:pt x="8346567" y="3214624"/>
                    <a:pt x="8247634" y="3313430"/>
                    <a:pt x="8125714" y="3313430"/>
                  </a:cubicBezTo>
                  <a:lnTo>
                    <a:pt x="220853" y="3313430"/>
                  </a:lnTo>
                  <a:cubicBezTo>
                    <a:pt x="98933" y="3313430"/>
                    <a:pt x="0" y="3214624"/>
                    <a:pt x="0" y="3092577"/>
                  </a:cubicBezTo>
                  <a:close/>
                </a:path>
              </a:pathLst>
            </a:custGeom>
            <a:solidFill>
              <a:srgbClr val="F4F2FD"/>
            </a:solidFill>
            <a:ln w="14299" cap="sq">
              <a:solidFill>
                <a:srgbClr val="E7E3FB"/>
              </a:solidFill>
              <a:prstDash val="solid"/>
              <a:miter/>
            </a:ln>
          </p:spPr>
        </p:sp>
      </p:grpSp>
      <p:grpSp>
        <p:nvGrpSpPr>
          <p:cNvPr name="Group 37" id="37"/>
          <p:cNvGrpSpPr/>
          <p:nvPr/>
        </p:nvGrpSpPr>
        <p:grpSpPr>
          <a:xfrm rot="0">
            <a:off x="11736353" y="5765225"/>
            <a:ext cx="960872" cy="960872"/>
            <a:chOff x="0" y="0"/>
            <a:chExt cx="1281163" cy="1281163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281176" cy="1281176"/>
            </a:xfrm>
            <a:custGeom>
              <a:avLst/>
              <a:gdLst/>
              <a:ahLst/>
              <a:cxnLst/>
              <a:rect r="r" b="b" t="t" l="l"/>
              <a:pathLst>
                <a:path h="1281176" w="1281176">
                  <a:moveTo>
                    <a:pt x="0" y="640588"/>
                  </a:moveTo>
                  <a:cubicBezTo>
                    <a:pt x="0" y="286766"/>
                    <a:pt x="286766" y="0"/>
                    <a:pt x="640588" y="0"/>
                  </a:cubicBezTo>
                  <a:cubicBezTo>
                    <a:pt x="994410" y="0"/>
                    <a:pt x="1281176" y="286766"/>
                    <a:pt x="1281176" y="640588"/>
                  </a:cubicBezTo>
                  <a:cubicBezTo>
                    <a:pt x="1281176" y="994410"/>
                    <a:pt x="994410" y="1281176"/>
                    <a:pt x="640588" y="1281176"/>
                  </a:cubicBezTo>
                  <a:cubicBezTo>
                    <a:pt x="286766" y="1281176"/>
                    <a:pt x="0" y="994410"/>
                    <a:pt x="0" y="640588"/>
                  </a:cubicBezTo>
                  <a:close/>
                </a:path>
              </a:pathLst>
            </a:custGeom>
            <a:solidFill>
              <a:srgbClr val="F2592A"/>
            </a:solid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11736353" y="5765225"/>
            <a:ext cx="960872" cy="960872"/>
            <a:chOff x="0" y="0"/>
            <a:chExt cx="1281163" cy="1281163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281161" cy="1281161"/>
            </a:xfrm>
            <a:custGeom>
              <a:avLst/>
              <a:gdLst/>
              <a:ahLst/>
              <a:cxnLst/>
              <a:rect r="r" b="b" t="t" l="l"/>
              <a:pathLst>
                <a:path h="1281161" w="1281161">
                  <a:moveTo>
                    <a:pt x="0" y="0"/>
                  </a:moveTo>
                  <a:lnTo>
                    <a:pt x="1281161" y="0"/>
                  </a:lnTo>
                  <a:lnTo>
                    <a:pt x="1281161" y="1281161"/>
                  </a:lnTo>
                  <a:lnTo>
                    <a:pt x="0" y="128116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-19050"/>
              <a:ext cx="1281163" cy="13002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2"/>
                </a:lnSpc>
              </a:pPr>
              <a:r>
                <a:rPr lang="en-US" sz="3002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</a:t>
              </a:r>
            </a:p>
          </p:txBody>
        </p:sp>
      </p:grpSp>
      <p:sp>
        <p:nvSpPr>
          <p:cNvPr name="TextBox 42" id="42"/>
          <p:cNvSpPr txBox="true"/>
          <p:nvPr/>
        </p:nvSpPr>
        <p:spPr>
          <a:xfrm rot="0">
            <a:off x="12971755" y="5677538"/>
            <a:ext cx="4461186" cy="5681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 b="true">
                <a:solidFill>
                  <a:srgbClr val="141414"/>
                </a:solidFill>
                <a:latin typeface="Arial Bold"/>
                <a:ea typeface="Arial Bold"/>
                <a:cs typeface="Arial Bold"/>
                <a:sym typeface="Arial Bold"/>
              </a:rPr>
              <a:t>Audiencia secundaria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2971755" y="6277318"/>
            <a:ext cx="4461186" cy="14508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4A4A4A"/>
                </a:solidFill>
                <a:latin typeface="Arial"/>
                <a:ea typeface="Arial"/>
                <a:cs typeface="Arial"/>
                <a:sym typeface="Arial"/>
              </a:rPr>
              <a:t>Investigadores, estudiantes y equipos de datos que usan datos abiertos de accidentes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7021137" y="9658293"/>
            <a:ext cx="686333" cy="4308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1"/>
              </a:lnSpc>
            </a:pPr>
            <a:r>
              <a:rPr lang="en-US" sz="1501">
                <a:solidFill>
                  <a:srgbClr val="4A4A4A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617706"/>
            <a:chOff x="0" y="0"/>
            <a:chExt cx="24402453" cy="82360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2414" cy="823595"/>
            </a:xfrm>
            <a:custGeom>
              <a:avLst/>
              <a:gdLst/>
              <a:ahLst/>
              <a:cxnLst/>
              <a:rect r="r" b="b" t="t" l="l"/>
              <a:pathLst>
                <a:path h="823595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823595"/>
                  </a:lnTo>
                  <a:lnTo>
                    <a:pt x="0" y="823595"/>
                  </a:lnTo>
                  <a:close/>
                </a:path>
              </a:pathLst>
            </a:custGeom>
            <a:solidFill>
              <a:srgbClr val="E7E3FB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17706" y="164725"/>
            <a:ext cx="288265" cy="288265"/>
            <a:chOff x="0" y="0"/>
            <a:chExt cx="384353" cy="38435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84302" cy="384302"/>
            </a:xfrm>
            <a:custGeom>
              <a:avLst/>
              <a:gdLst/>
              <a:ahLst/>
              <a:cxnLst/>
              <a:rect r="r" b="b" t="t" l="l"/>
              <a:pathLst>
                <a:path h="384302" w="384302">
                  <a:moveTo>
                    <a:pt x="0" y="54864"/>
                  </a:moveTo>
                  <a:cubicBezTo>
                    <a:pt x="0" y="24638"/>
                    <a:pt x="24638" y="0"/>
                    <a:pt x="54864" y="0"/>
                  </a:cubicBezTo>
                  <a:lnTo>
                    <a:pt x="329438" y="0"/>
                  </a:lnTo>
                  <a:cubicBezTo>
                    <a:pt x="359791" y="0"/>
                    <a:pt x="384302" y="24638"/>
                    <a:pt x="384302" y="54864"/>
                  </a:cubicBezTo>
                  <a:lnTo>
                    <a:pt x="384302" y="329438"/>
                  </a:lnTo>
                  <a:cubicBezTo>
                    <a:pt x="384302" y="359791"/>
                    <a:pt x="359664" y="384302"/>
                    <a:pt x="329438" y="384302"/>
                  </a:cubicBezTo>
                  <a:lnTo>
                    <a:pt x="54864" y="384302"/>
                  </a:lnTo>
                  <a:cubicBezTo>
                    <a:pt x="24638" y="384302"/>
                    <a:pt x="0" y="359791"/>
                    <a:pt x="0" y="329438"/>
                  </a:cubicBezTo>
                  <a:close/>
                </a:path>
              </a:pathLst>
            </a:custGeom>
            <a:solidFill>
              <a:srgbClr val="141414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1070686" y="104489"/>
            <a:ext cx="2745343" cy="4308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141414"/>
                </a:solidFill>
                <a:latin typeface="Arial Bold"/>
                <a:ea typeface="Arial Bold"/>
                <a:cs typeface="Arial Bold"/>
                <a:sym typeface="Arial Bold"/>
              </a:rPr>
              <a:t>VIZU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0" y="617706"/>
            <a:ext cx="18301840" cy="1372676"/>
            <a:chOff x="0" y="0"/>
            <a:chExt cx="24402453" cy="1830235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4402414" cy="1830197"/>
            </a:xfrm>
            <a:custGeom>
              <a:avLst/>
              <a:gdLst/>
              <a:ahLst/>
              <a:cxnLst/>
              <a:rect r="r" b="b" t="t" l="l"/>
              <a:pathLst>
                <a:path h="1830197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830197"/>
                  </a:lnTo>
                  <a:lnTo>
                    <a:pt x="0" y="1830197"/>
                  </a:lnTo>
                  <a:close/>
                </a:path>
              </a:pathLst>
            </a:custGeom>
            <a:solidFill>
              <a:srgbClr val="E2F98C"/>
            </a:solidFill>
          </p:spPr>
        </p:sp>
      </p:grpSp>
      <p:grpSp>
        <p:nvGrpSpPr>
          <p:cNvPr name="Group 9" id="9"/>
          <p:cNvGrpSpPr/>
          <p:nvPr/>
        </p:nvGrpSpPr>
        <p:grpSpPr>
          <a:xfrm rot="0">
            <a:off x="617706" y="617706"/>
            <a:ext cx="17021137" cy="1372676"/>
            <a:chOff x="0" y="0"/>
            <a:chExt cx="22694849" cy="183023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2694850" cy="1830230"/>
            </a:xfrm>
            <a:custGeom>
              <a:avLst/>
              <a:gdLst/>
              <a:ahLst/>
              <a:cxnLst/>
              <a:rect r="r" b="b" t="t" l="l"/>
              <a:pathLst>
                <a:path h="1830230" w="22694850">
                  <a:moveTo>
                    <a:pt x="0" y="0"/>
                  </a:moveTo>
                  <a:lnTo>
                    <a:pt x="22694850" y="0"/>
                  </a:lnTo>
                  <a:lnTo>
                    <a:pt x="22694850" y="1830230"/>
                  </a:lnTo>
                  <a:lnTo>
                    <a:pt x="0" y="183023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1614" r="0" b="-191614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19050"/>
              <a:ext cx="22694849" cy="18492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043"/>
                </a:lnSpc>
              </a:pPr>
              <a:r>
                <a:rPr lang="en-US" sz="4203" b="true">
                  <a:solidFill>
                    <a:srgbClr val="141414"/>
                  </a:solidFill>
                  <a:latin typeface="Arial Bold"/>
                  <a:ea typeface="Arial Bold"/>
                  <a:cs typeface="Arial Bold"/>
                  <a:sym typeface="Arial Bold"/>
                </a:rPr>
                <a:t>LAS 5 PREGUNTAS Y QUÉ CUBRE EL PROTOTIPO</a:t>
              </a:r>
            </a:p>
          </p:txBody>
        </p:sp>
      </p:grpSp>
      <p:graphicFrame>
        <p:nvGraphicFramePr>
          <p:cNvPr name="Table 12" id="12"/>
          <p:cNvGraphicFramePr>
            <a:graphicFrameLocks noGrp="true"/>
          </p:cNvGraphicFramePr>
          <p:nvPr/>
        </p:nvGraphicFramePr>
        <p:xfrm>
          <a:off x="686336" y="2470810"/>
          <a:ext cx="16872432" cy="5833858"/>
        </p:xfrm>
        <a:graphic>
          <a:graphicData uri="http://schemas.openxmlformats.org/drawingml/2006/table">
            <a:tbl>
              <a:tblPr/>
              <a:tblGrid>
                <a:gridCol w="979770"/>
                <a:gridCol w="7232175"/>
                <a:gridCol w="6729264"/>
                <a:gridCol w="1931223"/>
              </a:tblGrid>
              <a:tr h="694507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521"/>
                        </a:lnSpc>
                        <a:defRPr/>
                      </a:pPr>
                      <a:r>
                        <a:rPr lang="en-US" sz="2101" b="true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Pregunta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521"/>
                        </a:lnSpc>
                        <a:defRPr/>
                      </a:pPr>
                      <a:r>
                        <a:rPr lang="en-US" sz="2101" b="true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Vista del prototipo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521"/>
                        </a:lnSpc>
                        <a:defRPr/>
                      </a:pPr>
                      <a:r>
                        <a:rPr lang="en-US" sz="2101" b="true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Estado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102787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521"/>
                        </a:lnSpc>
                        <a:defRPr/>
                      </a:pPr>
                      <a:r>
                        <a:rPr lang="en-US" sz="2101" b="true">
                          <a:solidFill>
                            <a:srgbClr val="141414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T1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521"/>
                        </a:lnSpc>
                        <a:defRPr/>
                      </a:pPr>
                      <a:r>
                        <a:rPr lang="en-US" sz="2101">
                          <a:solidFill>
                            <a:srgbClr val="14141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¿Dónde y en qué periodos se concentran, y cómo cambia según la fuente?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521"/>
                        </a:lnSpc>
                        <a:defRPr/>
                      </a:pPr>
                      <a:r>
                        <a:rPr lang="en-US" sz="2101">
                          <a:solidFill>
                            <a:srgbClr val="14141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Mapa coroplético por proporción + filtros de fuente y año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21"/>
                        </a:lnSpc>
                        <a:defRPr/>
                      </a:pPr>
                      <a:r>
                        <a:rPr lang="en-US" sz="2101" b="true">
                          <a:solidFill>
                            <a:srgbClr val="141414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Sí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98C"/>
                    </a:solidFill>
                  </a:tcPr>
                </a:tc>
              </a:tr>
              <a:tr h="102787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521"/>
                        </a:lnSpc>
                        <a:defRPr/>
                      </a:pPr>
                      <a:r>
                        <a:rPr lang="en-US" sz="2101" b="true">
                          <a:solidFill>
                            <a:srgbClr val="141414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T2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521"/>
                        </a:lnSpc>
                        <a:defRPr/>
                      </a:pPr>
                      <a:r>
                        <a:rPr lang="en-US" sz="2101">
                          <a:solidFill>
                            <a:srgbClr val="14141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¿Qué condiciones climáticas los caracterizan?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521"/>
                        </a:lnSpc>
                        <a:defRPr/>
                      </a:pPr>
                      <a:r>
                        <a:rPr lang="en-US" sz="2101">
                          <a:solidFill>
                            <a:srgbClr val="14141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Gráfico de puntos agrupados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21"/>
                        </a:lnSpc>
                        <a:defRPr/>
                      </a:pPr>
                      <a:r>
                        <a:rPr lang="en-US" sz="2101" b="true">
                          <a:solidFill>
                            <a:srgbClr val="141414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Sí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98C"/>
                    </a:solidFill>
                  </a:tcPr>
                </a:tc>
              </a:tr>
              <a:tr h="102787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521"/>
                        </a:lnSpc>
                        <a:defRPr/>
                      </a:pPr>
                      <a:r>
                        <a:rPr lang="en-US" sz="2101" b="true">
                          <a:solidFill>
                            <a:srgbClr val="141414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T3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521"/>
                        </a:lnSpc>
                        <a:defRPr/>
                      </a:pPr>
                      <a:r>
                        <a:rPr lang="en-US" sz="2101">
                          <a:solidFill>
                            <a:srgbClr val="14141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¿Cómo varían según la hora y el día?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521"/>
                        </a:lnSpc>
                        <a:defRPr/>
                      </a:pPr>
                      <a:r>
                        <a:rPr lang="en-US" sz="2101">
                          <a:solidFill>
                            <a:srgbClr val="14141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Reloj de 24 h + líneas lunes–viernes vs. fin de semana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521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101" strike="noStrike" u="none">
                          <a:solidFill>
                            <a:srgbClr val="141414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SI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98C"/>
                    </a:solidFill>
                  </a:tcPr>
                </a:tc>
              </a:tr>
              <a:tr h="102787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521"/>
                        </a:lnSpc>
                        <a:defRPr/>
                      </a:pPr>
                      <a:r>
                        <a:rPr lang="en-US" sz="2101" b="true">
                          <a:solidFill>
                            <a:srgbClr val="141414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T4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521"/>
                        </a:lnSpc>
                        <a:defRPr/>
                      </a:pPr>
                      <a:r>
                        <a:rPr lang="en-US" sz="2101">
                          <a:solidFill>
                            <a:srgbClr val="14141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¿Qué infraestructura vial aparece con más frecuencia?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521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101" strike="noStrike" u="none">
                          <a:solidFill>
                            <a:srgbClr val="14141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Gráfico de puntos agrupados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521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101" strike="noStrike" u="none">
                          <a:solidFill>
                            <a:srgbClr val="141414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SI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98C"/>
                    </a:solidFill>
                  </a:tcPr>
                </a:tc>
              </a:tr>
              <a:tr h="102787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521"/>
                        </a:lnSpc>
                        <a:defRPr/>
                      </a:pPr>
                      <a:r>
                        <a:rPr lang="en-US" sz="2101" b="true">
                          <a:solidFill>
                            <a:srgbClr val="141414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T5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521"/>
                        </a:lnSpc>
                        <a:defRPr/>
                      </a:pPr>
                      <a:r>
                        <a:rPr lang="en-US" sz="2101">
                          <a:solidFill>
                            <a:srgbClr val="14141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¿Qué diferencias hay entre dos regiones comparables?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521"/>
                        </a:lnSpc>
                        <a:defRPr/>
                      </a:pPr>
                      <a:r>
                        <a:rPr lang="en-US" sz="2101">
                          <a:solidFill>
                            <a:srgbClr val="14141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Opción para comparar estados/ciudades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521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101" strike="noStrike" u="none">
                          <a:solidFill>
                            <a:srgbClr val="141414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SI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98C"/>
                    </a:solidFill>
                  </a:tcPr>
                </a:tc>
              </a:tr>
            </a:tbl>
          </a:graphicData>
        </a:graphic>
      </p:graphicFrame>
      <p:sp>
        <p:nvSpPr>
          <p:cNvPr name="TextBox 13" id="13"/>
          <p:cNvSpPr txBox="true"/>
          <p:nvPr/>
        </p:nvSpPr>
        <p:spPr>
          <a:xfrm rot="0">
            <a:off x="17021137" y="9658293"/>
            <a:ext cx="686333" cy="4308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1"/>
              </a:lnSpc>
            </a:pPr>
            <a:r>
              <a:rPr lang="en-US" sz="1501">
                <a:solidFill>
                  <a:srgbClr val="4A4A4A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617706"/>
            <a:chOff x="0" y="0"/>
            <a:chExt cx="24402453" cy="82360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2414" cy="823595"/>
            </a:xfrm>
            <a:custGeom>
              <a:avLst/>
              <a:gdLst/>
              <a:ahLst/>
              <a:cxnLst/>
              <a:rect r="r" b="b" t="t" l="l"/>
              <a:pathLst>
                <a:path h="823595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823595"/>
                  </a:lnTo>
                  <a:lnTo>
                    <a:pt x="0" y="823595"/>
                  </a:lnTo>
                  <a:close/>
                </a:path>
              </a:pathLst>
            </a:custGeom>
            <a:solidFill>
              <a:srgbClr val="E7E3FB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17706" y="164725"/>
            <a:ext cx="288265" cy="288265"/>
            <a:chOff x="0" y="0"/>
            <a:chExt cx="384353" cy="38435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84302" cy="384302"/>
            </a:xfrm>
            <a:custGeom>
              <a:avLst/>
              <a:gdLst/>
              <a:ahLst/>
              <a:cxnLst/>
              <a:rect r="r" b="b" t="t" l="l"/>
              <a:pathLst>
                <a:path h="384302" w="384302">
                  <a:moveTo>
                    <a:pt x="0" y="54864"/>
                  </a:moveTo>
                  <a:cubicBezTo>
                    <a:pt x="0" y="24638"/>
                    <a:pt x="24638" y="0"/>
                    <a:pt x="54864" y="0"/>
                  </a:cubicBezTo>
                  <a:lnTo>
                    <a:pt x="329438" y="0"/>
                  </a:lnTo>
                  <a:cubicBezTo>
                    <a:pt x="359791" y="0"/>
                    <a:pt x="384302" y="24638"/>
                    <a:pt x="384302" y="54864"/>
                  </a:cubicBezTo>
                  <a:lnTo>
                    <a:pt x="384302" y="329438"/>
                  </a:lnTo>
                  <a:cubicBezTo>
                    <a:pt x="384302" y="359791"/>
                    <a:pt x="359664" y="384302"/>
                    <a:pt x="329438" y="384302"/>
                  </a:cubicBezTo>
                  <a:lnTo>
                    <a:pt x="54864" y="384302"/>
                  </a:lnTo>
                  <a:cubicBezTo>
                    <a:pt x="24638" y="384302"/>
                    <a:pt x="0" y="359791"/>
                    <a:pt x="0" y="329438"/>
                  </a:cubicBezTo>
                  <a:close/>
                </a:path>
              </a:pathLst>
            </a:custGeom>
            <a:solidFill>
              <a:srgbClr val="141414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617706"/>
            <a:ext cx="18301840" cy="1372676"/>
            <a:chOff x="0" y="0"/>
            <a:chExt cx="24402453" cy="183023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402414" cy="1830197"/>
            </a:xfrm>
            <a:custGeom>
              <a:avLst/>
              <a:gdLst/>
              <a:ahLst/>
              <a:cxnLst/>
              <a:rect r="r" b="b" t="t" l="l"/>
              <a:pathLst>
                <a:path h="1830197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830197"/>
                  </a:lnTo>
                  <a:lnTo>
                    <a:pt x="0" y="1830197"/>
                  </a:lnTo>
                  <a:close/>
                </a:path>
              </a:pathLst>
            </a:custGeom>
            <a:solidFill>
              <a:srgbClr val="E2F98C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17706" y="617706"/>
            <a:ext cx="17021137" cy="1372676"/>
            <a:chOff x="0" y="0"/>
            <a:chExt cx="22694849" cy="183023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94850" cy="1830230"/>
            </a:xfrm>
            <a:custGeom>
              <a:avLst/>
              <a:gdLst/>
              <a:ahLst/>
              <a:cxnLst/>
              <a:rect r="r" b="b" t="t" l="l"/>
              <a:pathLst>
                <a:path h="1830230" w="22694850">
                  <a:moveTo>
                    <a:pt x="0" y="0"/>
                  </a:moveTo>
                  <a:lnTo>
                    <a:pt x="22694850" y="0"/>
                  </a:lnTo>
                  <a:lnTo>
                    <a:pt x="22694850" y="1830230"/>
                  </a:lnTo>
                  <a:lnTo>
                    <a:pt x="0" y="183023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1614" r="0" b="-191614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9050"/>
              <a:ext cx="22694849" cy="18492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043"/>
                </a:lnSpc>
              </a:pPr>
              <a:r>
                <a:rPr lang="en-US" sz="4203" b="true">
                  <a:solidFill>
                    <a:srgbClr val="141414"/>
                  </a:solidFill>
                  <a:latin typeface="Arial Bold"/>
                  <a:ea typeface="Arial Bold"/>
                  <a:cs typeface="Arial Bold"/>
                  <a:sym typeface="Arial Bold"/>
                </a:rPr>
                <a:t>INSPIRACIÓN: QUÉ TOMAMOS DE CADA PAPER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679190" y="2257758"/>
            <a:ext cx="8250336" cy="3240081"/>
            <a:chOff x="0" y="0"/>
            <a:chExt cx="11000448" cy="4320108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000486" cy="4320159"/>
            </a:xfrm>
            <a:custGeom>
              <a:avLst/>
              <a:gdLst/>
              <a:ahLst/>
              <a:cxnLst/>
              <a:rect r="r" b="b" t="t" l="l"/>
              <a:pathLst>
                <a:path h="4320159" w="11000486">
                  <a:moveTo>
                    <a:pt x="0" y="220599"/>
                  </a:moveTo>
                  <a:cubicBezTo>
                    <a:pt x="0" y="98806"/>
                    <a:pt x="98806" y="0"/>
                    <a:pt x="220599" y="0"/>
                  </a:cubicBezTo>
                  <a:lnTo>
                    <a:pt x="10779887" y="0"/>
                  </a:lnTo>
                  <a:cubicBezTo>
                    <a:pt x="10901680" y="0"/>
                    <a:pt x="11000486" y="98806"/>
                    <a:pt x="11000486" y="220599"/>
                  </a:cubicBezTo>
                  <a:lnTo>
                    <a:pt x="11000486" y="4099560"/>
                  </a:lnTo>
                  <a:cubicBezTo>
                    <a:pt x="11000486" y="4221353"/>
                    <a:pt x="10901680" y="4320159"/>
                    <a:pt x="10779887" y="4320159"/>
                  </a:cubicBezTo>
                  <a:lnTo>
                    <a:pt x="220599" y="4320159"/>
                  </a:lnTo>
                  <a:cubicBezTo>
                    <a:pt x="98806" y="4320159"/>
                    <a:pt x="0" y="4221353"/>
                    <a:pt x="0" y="4099560"/>
                  </a:cubicBezTo>
                  <a:close/>
                </a:path>
              </a:pathLst>
            </a:custGeom>
            <a:solidFill>
              <a:srgbClr val="F4F2FD"/>
            </a:solidFill>
            <a:ln w="14299" cap="sq">
              <a:solidFill>
                <a:srgbClr val="E7E3FB"/>
              </a:solidFill>
              <a:prstDash val="solid"/>
              <a:miter/>
            </a:ln>
          </p:spPr>
        </p:sp>
      </p:grpSp>
      <p:grpSp>
        <p:nvGrpSpPr>
          <p:cNvPr name="Group 13" id="13"/>
          <p:cNvGrpSpPr/>
          <p:nvPr/>
        </p:nvGrpSpPr>
        <p:grpSpPr>
          <a:xfrm rot="0">
            <a:off x="933421" y="2866253"/>
            <a:ext cx="2608078" cy="2023091"/>
            <a:chOff x="0" y="0"/>
            <a:chExt cx="3477438" cy="2697455"/>
          </a:xfrm>
        </p:grpSpPr>
        <p:sp>
          <p:nvSpPr>
            <p:cNvPr name="Freeform 14" id="14" descr="Figura del paper Fan et al., 2015"/>
            <p:cNvSpPr/>
            <p:nvPr/>
          </p:nvSpPr>
          <p:spPr>
            <a:xfrm flipH="false" flipV="false" rot="0">
              <a:off x="0" y="0"/>
              <a:ext cx="3477387" cy="2697480"/>
            </a:xfrm>
            <a:custGeom>
              <a:avLst/>
              <a:gdLst/>
              <a:ahLst/>
              <a:cxnLst/>
              <a:rect r="r" b="b" t="t" l="l"/>
              <a:pathLst>
                <a:path h="2697480" w="3477387">
                  <a:moveTo>
                    <a:pt x="0" y="0"/>
                  </a:moveTo>
                  <a:lnTo>
                    <a:pt x="3477387" y="0"/>
                  </a:lnTo>
                  <a:lnTo>
                    <a:pt x="3477387" y="2697480"/>
                  </a:lnTo>
                  <a:lnTo>
                    <a:pt x="0" y="26974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" b="0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9327023" y="2257758"/>
            <a:ext cx="8250336" cy="3240081"/>
            <a:chOff x="0" y="0"/>
            <a:chExt cx="11000448" cy="4320108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1000486" cy="4320159"/>
            </a:xfrm>
            <a:custGeom>
              <a:avLst/>
              <a:gdLst/>
              <a:ahLst/>
              <a:cxnLst/>
              <a:rect r="r" b="b" t="t" l="l"/>
              <a:pathLst>
                <a:path h="4320159" w="11000486">
                  <a:moveTo>
                    <a:pt x="0" y="220599"/>
                  </a:moveTo>
                  <a:cubicBezTo>
                    <a:pt x="0" y="98806"/>
                    <a:pt x="98806" y="0"/>
                    <a:pt x="220599" y="0"/>
                  </a:cubicBezTo>
                  <a:lnTo>
                    <a:pt x="10779887" y="0"/>
                  </a:lnTo>
                  <a:cubicBezTo>
                    <a:pt x="10901680" y="0"/>
                    <a:pt x="11000486" y="98806"/>
                    <a:pt x="11000486" y="220599"/>
                  </a:cubicBezTo>
                  <a:lnTo>
                    <a:pt x="11000486" y="4099560"/>
                  </a:lnTo>
                  <a:cubicBezTo>
                    <a:pt x="11000486" y="4221353"/>
                    <a:pt x="10901680" y="4320159"/>
                    <a:pt x="10779887" y="4320159"/>
                  </a:cubicBezTo>
                  <a:lnTo>
                    <a:pt x="220599" y="4320159"/>
                  </a:lnTo>
                  <a:cubicBezTo>
                    <a:pt x="98806" y="4320159"/>
                    <a:pt x="0" y="4221353"/>
                    <a:pt x="0" y="4099560"/>
                  </a:cubicBezTo>
                  <a:close/>
                </a:path>
              </a:pathLst>
            </a:custGeom>
            <a:solidFill>
              <a:srgbClr val="F4F2FD"/>
            </a:solidFill>
            <a:ln w="14299" cap="sq">
              <a:solidFill>
                <a:srgbClr val="E7E3FB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9581255" y="2865634"/>
            <a:ext cx="2608078" cy="2024320"/>
            <a:chOff x="0" y="0"/>
            <a:chExt cx="3477438" cy="2699093"/>
          </a:xfrm>
        </p:grpSpPr>
        <p:sp>
          <p:nvSpPr>
            <p:cNvPr name="Freeform 18" id="18" descr="Figura del paper Sunkpho y Wipulanusat, 2020"/>
            <p:cNvSpPr/>
            <p:nvPr/>
          </p:nvSpPr>
          <p:spPr>
            <a:xfrm flipH="false" flipV="false" rot="0">
              <a:off x="0" y="0"/>
              <a:ext cx="3477387" cy="2699131"/>
            </a:xfrm>
            <a:custGeom>
              <a:avLst/>
              <a:gdLst/>
              <a:ahLst/>
              <a:cxnLst/>
              <a:rect r="r" b="b" t="t" l="l"/>
              <a:pathLst>
                <a:path h="2699131" w="3477387">
                  <a:moveTo>
                    <a:pt x="0" y="0"/>
                  </a:moveTo>
                  <a:lnTo>
                    <a:pt x="3477387" y="0"/>
                  </a:lnTo>
                  <a:lnTo>
                    <a:pt x="3477387" y="2699131"/>
                  </a:lnTo>
                  <a:lnTo>
                    <a:pt x="0" y="26991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1" b="1"/>
              </a:stretch>
            </a:blip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679190" y="5689444"/>
            <a:ext cx="8250336" cy="3240081"/>
            <a:chOff x="0" y="0"/>
            <a:chExt cx="11000448" cy="4320108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1000486" cy="4320159"/>
            </a:xfrm>
            <a:custGeom>
              <a:avLst/>
              <a:gdLst/>
              <a:ahLst/>
              <a:cxnLst/>
              <a:rect r="r" b="b" t="t" l="l"/>
              <a:pathLst>
                <a:path h="4320159" w="11000486">
                  <a:moveTo>
                    <a:pt x="0" y="220599"/>
                  </a:moveTo>
                  <a:cubicBezTo>
                    <a:pt x="0" y="98806"/>
                    <a:pt x="98806" y="0"/>
                    <a:pt x="220599" y="0"/>
                  </a:cubicBezTo>
                  <a:lnTo>
                    <a:pt x="10779887" y="0"/>
                  </a:lnTo>
                  <a:cubicBezTo>
                    <a:pt x="10901680" y="0"/>
                    <a:pt x="11000486" y="98806"/>
                    <a:pt x="11000486" y="220599"/>
                  </a:cubicBezTo>
                  <a:lnTo>
                    <a:pt x="11000486" y="4099560"/>
                  </a:lnTo>
                  <a:cubicBezTo>
                    <a:pt x="11000486" y="4221353"/>
                    <a:pt x="10901680" y="4320159"/>
                    <a:pt x="10779887" y="4320159"/>
                  </a:cubicBezTo>
                  <a:lnTo>
                    <a:pt x="220599" y="4320159"/>
                  </a:lnTo>
                  <a:cubicBezTo>
                    <a:pt x="98806" y="4320159"/>
                    <a:pt x="0" y="4221353"/>
                    <a:pt x="0" y="4099560"/>
                  </a:cubicBezTo>
                  <a:close/>
                </a:path>
              </a:pathLst>
            </a:custGeom>
            <a:solidFill>
              <a:srgbClr val="F4F2FD"/>
            </a:solidFill>
            <a:ln w="14299" cap="sq">
              <a:solidFill>
                <a:srgbClr val="E7E3FB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9327023" y="5689444"/>
            <a:ext cx="8250336" cy="3240081"/>
            <a:chOff x="0" y="0"/>
            <a:chExt cx="11000448" cy="4320108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1000486" cy="4320159"/>
            </a:xfrm>
            <a:custGeom>
              <a:avLst/>
              <a:gdLst/>
              <a:ahLst/>
              <a:cxnLst/>
              <a:rect r="r" b="b" t="t" l="l"/>
              <a:pathLst>
                <a:path h="4320159" w="11000486">
                  <a:moveTo>
                    <a:pt x="0" y="220599"/>
                  </a:moveTo>
                  <a:cubicBezTo>
                    <a:pt x="0" y="98806"/>
                    <a:pt x="98806" y="0"/>
                    <a:pt x="220599" y="0"/>
                  </a:cubicBezTo>
                  <a:lnTo>
                    <a:pt x="10779887" y="0"/>
                  </a:lnTo>
                  <a:cubicBezTo>
                    <a:pt x="10901680" y="0"/>
                    <a:pt x="11000486" y="98806"/>
                    <a:pt x="11000486" y="220599"/>
                  </a:cubicBezTo>
                  <a:lnTo>
                    <a:pt x="11000486" y="4099560"/>
                  </a:lnTo>
                  <a:cubicBezTo>
                    <a:pt x="11000486" y="4221353"/>
                    <a:pt x="10901680" y="4320159"/>
                    <a:pt x="10779887" y="4320159"/>
                  </a:cubicBezTo>
                  <a:lnTo>
                    <a:pt x="220599" y="4320159"/>
                  </a:lnTo>
                  <a:cubicBezTo>
                    <a:pt x="98806" y="4320159"/>
                    <a:pt x="0" y="4221353"/>
                    <a:pt x="0" y="4099560"/>
                  </a:cubicBezTo>
                  <a:close/>
                </a:path>
              </a:pathLst>
            </a:custGeom>
            <a:solidFill>
              <a:srgbClr val="F4F2FD"/>
            </a:solidFill>
            <a:ln w="14299" cap="sq">
              <a:solidFill>
                <a:srgbClr val="E7E3FB"/>
              </a:solidFill>
              <a:prstDash val="solid"/>
              <a:miter/>
            </a:ln>
          </p:spPr>
        </p:sp>
      </p:grpSp>
      <p:grpSp>
        <p:nvGrpSpPr>
          <p:cNvPr name="Group 23" id="23"/>
          <p:cNvGrpSpPr/>
          <p:nvPr/>
        </p:nvGrpSpPr>
        <p:grpSpPr>
          <a:xfrm rot="0">
            <a:off x="9581255" y="6718744"/>
            <a:ext cx="2608078" cy="1181481"/>
            <a:chOff x="0" y="0"/>
            <a:chExt cx="3477438" cy="1575308"/>
          </a:xfrm>
        </p:grpSpPr>
        <p:sp>
          <p:nvSpPr>
            <p:cNvPr name="Freeform 24" id="24" descr="Figura del paper TripVista · Guo et al., 2011"/>
            <p:cNvSpPr/>
            <p:nvPr/>
          </p:nvSpPr>
          <p:spPr>
            <a:xfrm flipH="false" flipV="false" rot="0">
              <a:off x="0" y="0"/>
              <a:ext cx="3477387" cy="1575308"/>
            </a:xfrm>
            <a:custGeom>
              <a:avLst/>
              <a:gdLst/>
              <a:ahLst/>
              <a:cxnLst/>
              <a:rect r="r" b="b" t="t" l="l"/>
              <a:pathLst>
                <a:path h="1575308" w="3477387">
                  <a:moveTo>
                    <a:pt x="0" y="0"/>
                  </a:moveTo>
                  <a:lnTo>
                    <a:pt x="3477387" y="0"/>
                  </a:lnTo>
                  <a:lnTo>
                    <a:pt x="3477387" y="1575308"/>
                  </a:lnTo>
                  <a:lnTo>
                    <a:pt x="0" y="1575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-1" b="0"/>
              </a:stretch>
            </a:blipFill>
          </p:spPr>
        </p:sp>
      </p:grpSp>
      <p:sp>
        <p:nvSpPr>
          <p:cNvPr name="Freeform 25" id="25"/>
          <p:cNvSpPr/>
          <p:nvPr/>
        </p:nvSpPr>
        <p:spPr>
          <a:xfrm flipH="false" flipV="false" rot="0">
            <a:off x="920131" y="6282642"/>
            <a:ext cx="2634658" cy="1705929"/>
          </a:xfrm>
          <a:custGeom>
            <a:avLst/>
            <a:gdLst/>
            <a:ahLst/>
            <a:cxnLst/>
            <a:rect r="r" b="b" t="t" l="l"/>
            <a:pathLst>
              <a:path h="1705929" w="2634658">
                <a:moveTo>
                  <a:pt x="0" y="0"/>
                </a:moveTo>
                <a:lnTo>
                  <a:pt x="2634659" y="0"/>
                </a:lnTo>
                <a:lnTo>
                  <a:pt x="2634659" y="1705929"/>
                </a:lnTo>
                <a:lnTo>
                  <a:pt x="0" y="17059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26" id="26"/>
          <p:cNvSpPr txBox="true"/>
          <p:nvPr/>
        </p:nvSpPr>
        <p:spPr>
          <a:xfrm rot="0">
            <a:off x="1070686" y="104489"/>
            <a:ext cx="2745343" cy="4308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141414"/>
                </a:solidFill>
                <a:latin typeface="Arial Bold"/>
                <a:ea typeface="Arial Bold"/>
                <a:cs typeface="Arial Bold"/>
                <a:sym typeface="Arial Bold"/>
              </a:rPr>
              <a:t>VIZU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3774853" y="2420102"/>
            <a:ext cx="4941618" cy="4213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 b="true">
                <a:solidFill>
                  <a:srgbClr val="141414"/>
                </a:solidFill>
                <a:latin typeface="Arial Bold"/>
                <a:ea typeface="Arial Bold"/>
                <a:cs typeface="Arial Bold"/>
                <a:sym typeface="Arial Bold"/>
              </a:rPr>
              <a:t>Fan et al., 2015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3774853" y="2849832"/>
            <a:ext cx="4941618" cy="3622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Accidentes de Xiamen (China), espacio + tiempo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3774853" y="3234185"/>
            <a:ext cx="4941618" cy="1048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4A4A4A"/>
                </a:solidFill>
                <a:latin typeface="Arial"/>
                <a:ea typeface="Arial"/>
                <a:cs typeface="Arial"/>
                <a:sym typeface="Arial"/>
              </a:rPr>
              <a:t>Mapa a varias escalas (puntos → región → vía) y laborables frente a fin de semana.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3774853" y="4263685"/>
            <a:ext cx="4941618" cy="11171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Arial Bold"/>
                <a:ea typeface="Arial Bold"/>
                <a:cs typeface="Arial Bold"/>
                <a:sym typeface="Arial Bold"/>
              </a:rPr>
              <a:t>En VIZU: </a:t>
            </a:r>
            <a:r>
              <a:rPr lang="en-US" sz="1651">
                <a:solidFill>
                  <a:srgbClr val="7C3AED"/>
                </a:solidFill>
                <a:latin typeface="Arial"/>
                <a:ea typeface="Arial"/>
                <a:cs typeface="Arial"/>
                <a:sym typeface="Arial"/>
              </a:rPr>
              <a:t>Navegación USA → estado → condado → ciudad, y las líneas lunes–viernes vs. fin de semana (T3).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2422686" y="2420102"/>
            <a:ext cx="4941618" cy="4213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 b="true">
                <a:solidFill>
                  <a:srgbClr val="141414"/>
                </a:solidFill>
                <a:latin typeface="Arial Bold"/>
                <a:ea typeface="Arial Bold"/>
                <a:cs typeface="Arial Bold"/>
                <a:sym typeface="Arial Bold"/>
              </a:rPr>
              <a:t>Sunkpho y Wipulanusat, 2020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2422686" y="2849832"/>
            <a:ext cx="4941618" cy="3622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Accidentes de Año Nuevo en Tailandia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2422686" y="3234185"/>
            <a:ext cx="4941618" cy="1048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4A4A4A"/>
                </a:solidFill>
                <a:latin typeface="Arial"/>
                <a:ea typeface="Arial"/>
                <a:cs typeface="Arial"/>
                <a:sym typeface="Arial"/>
              </a:rPr>
              <a:t>Un solo dashboard con filtros por provincia y año; mapa con representación proporcional.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2422686" y="4263685"/>
            <a:ext cx="4941618" cy="11171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Arial Bold"/>
                <a:ea typeface="Arial Bold"/>
                <a:cs typeface="Arial Bold"/>
                <a:sym typeface="Arial Bold"/>
              </a:rPr>
              <a:t>En VIZU: </a:t>
            </a:r>
            <a:r>
              <a:rPr lang="en-US" sz="1651">
                <a:solidFill>
                  <a:srgbClr val="7C3AED"/>
                </a:solidFill>
                <a:latin typeface="Arial"/>
                <a:ea typeface="Arial"/>
                <a:cs typeface="Arial"/>
                <a:sym typeface="Arial"/>
              </a:rPr>
              <a:t>Filtros compartidos de estado, fuente y año, y el mapa coloreado por proporción (T1).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3774853" y="5851789"/>
            <a:ext cx="4941618" cy="4213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 b="true">
                <a:solidFill>
                  <a:srgbClr val="141414"/>
                </a:solidFill>
                <a:latin typeface="Arial Bold"/>
                <a:ea typeface="Arial Bold"/>
                <a:cs typeface="Arial Bold"/>
                <a:sym typeface="Arial Bold"/>
              </a:rPr>
              <a:t>JamVis · Rodriguez et al., 2022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3774853" y="6281518"/>
            <a:ext cx="4941618" cy="3622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Atascos y alertas de Waze · equipo de la UCSP, Arequipa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3774853" y="6665862"/>
            <a:ext cx="4941618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4A4A4A"/>
                </a:solidFill>
                <a:latin typeface="Arial"/>
                <a:ea typeface="Arial"/>
                <a:cs typeface="Arial"/>
                <a:sym typeface="Arial"/>
              </a:rPr>
              <a:t>El mapa como punto de entrada, zoom y pan por niveles, vistas enlazadas y focus + context.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3774853" y="7695371"/>
            <a:ext cx="4941618" cy="11171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Arial Bold"/>
                <a:ea typeface="Arial Bold"/>
                <a:cs typeface="Arial Bold"/>
                <a:sym typeface="Arial Bold"/>
              </a:rPr>
              <a:t>En VIZU: </a:t>
            </a:r>
            <a:r>
              <a:rPr lang="en-US" sz="1651">
                <a:solidFill>
                  <a:srgbClr val="7C3AED"/>
                </a:solidFill>
                <a:latin typeface="Arial"/>
                <a:ea typeface="Arial"/>
                <a:cs typeface="Arial"/>
                <a:sym typeface="Arial"/>
              </a:rPr>
              <a:t>Mapa Mapbox como entrada; al seleccionar un área se actualizan totales, RadViz y líneas.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2422686" y="5851789"/>
            <a:ext cx="4941618" cy="4213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 b="true">
                <a:solidFill>
                  <a:srgbClr val="141414"/>
                </a:solidFill>
                <a:latin typeface="Arial Bold"/>
                <a:ea typeface="Arial Bold"/>
                <a:cs typeface="Arial Bold"/>
                <a:sym typeface="Arial Bold"/>
              </a:rPr>
              <a:t>TripVista · Guo et al., 2011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2422686" y="6281518"/>
            <a:ext cx="4941618" cy="3622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Trayectorias de vehículos y peatones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2422686" y="6665862"/>
            <a:ext cx="4941618" cy="1048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4A4A4A"/>
                </a:solidFill>
                <a:latin typeface="Arial"/>
                <a:ea typeface="Arial"/>
                <a:cs typeface="Arial"/>
                <a:sym typeface="Arial"/>
              </a:rPr>
              <a:t>Tres perspectivas enlazadas (espacio, tiempo, multivariable) con brushing y lazo.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2422686" y="7695371"/>
            <a:ext cx="4941618" cy="11171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Arial Bold"/>
                <a:ea typeface="Arial Bold"/>
                <a:cs typeface="Arial Bold"/>
                <a:sym typeface="Arial Bold"/>
              </a:rPr>
              <a:t>En VIZU: </a:t>
            </a:r>
            <a:r>
              <a:rPr lang="en-US" sz="1651">
                <a:solidFill>
                  <a:srgbClr val="7C3AED"/>
                </a:solidFill>
                <a:latin typeface="Arial"/>
                <a:ea typeface="Arial"/>
                <a:cs typeface="Arial"/>
                <a:sym typeface="Arial"/>
              </a:rPr>
              <a:t>Lazo en el mapa que filtra a la vez el RadViz (vista multivariable) y las líneas por hora.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7021137" y="9658293"/>
            <a:ext cx="686333" cy="4308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1"/>
              </a:lnSpc>
            </a:pPr>
            <a:r>
              <a:rPr lang="en-US" sz="1501">
                <a:solidFill>
                  <a:srgbClr val="4A4A4A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617706"/>
            <a:chOff x="0" y="0"/>
            <a:chExt cx="24402453" cy="82360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2414" cy="823595"/>
            </a:xfrm>
            <a:custGeom>
              <a:avLst/>
              <a:gdLst/>
              <a:ahLst/>
              <a:cxnLst/>
              <a:rect r="r" b="b" t="t" l="l"/>
              <a:pathLst>
                <a:path h="823595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823595"/>
                  </a:lnTo>
                  <a:lnTo>
                    <a:pt x="0" y="823595"/>
                  </a:lnTo>
                  <a:close/>
                </a:path>
              </a:pathLst>
            </a:custGeom>
            <a:solidFill>
              <a:srgbClr val="E7E3FB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17706" y="164725"/>
            <a:ext cx="288265" cy="288265"/>
            <a:chOff x="0" y="0"/>
            <a:chExt cx="384353" cy="38435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84302" cy="384302"/>
            </a:xfrm>
            <a:custGeom>
              <a:avLst/>
              <a:gdLst/>
              <a:ahLst/>
              <a:cxnLst/>
              <a:rect r="r" b="b" t="t" l="l"/>
              <a:pathLst>
                <a:path h="384302" w="384302">
                  <a:moveTo>
                    <a:pt x="0" y="54864"/>
                  </a:moveTo>
                  <a:cubicBezTo>
                    <a:pt x="0" y="24638"/>
                    <a:pt x="24638" y="0"/>
                    <a:pt x="54864" y="0"/>
                  </a:cubicBezTo>
                  <a:lnTo>
                    <a:pt x="329438" y="0"/>
                  </a:lnTo>
                  <a:cubicBezTo>
                    <a:pt x="359791" y="0"/>
                    <a:pt x="384302" y="24638"/>
                    <a:pt x="384302" y="54864"/>
                  </a:cubicBezTo>
                  <a:lnTo>
                    <a:pt x="384302" y="329438"/>
                  </a:lnTo>
                  <a:cubicBezTo>
                    <a:pt x="384302" y="359791"/>
                    <a:pt x="359664" y="384302"/>
                    <a:pt x="329438" y="384302"/>
                  </a:cubicBezTo>
                  <a:lnTo>
                    <a:pt x="54864" y="384302"/>
                  </a:lnTo>
                  <a:cubicBezTo>
                    <a:pt x="24638" y="384302"/>
                    <a:pt x="0" y="359791"/>
                    <a:pt x="0" y="329438"/>
                  </a:cubicBezTo>
                  <a:close/>
                </a:path>
              </a:pathLst>
            </a:custGeom>
            <a:solidFill>
              <a:srgbClr val="141414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617706"/>
            <a:ext cx="18301840" cy="1372676"/>
            <a:chOff x="0" y="0"/>
            <a:chExt cx="24402453" cy="183023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402414" cy="1830197"/>
            </a:xfrm>
            <a:custGeom>
              <a:avLst/>
              <a:gdLst/>
              <a:ahLst/>
              <a:cxnLst/>
              <a:rect r="r" b="b" t="t" l="l"/>
              <a:pathLst>
                <a:path h="1830197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830197"/>
                  </a:lnTo>
                  <a:lnTo>
                    <a:pt x="0" y="1830197"/>
                  </a:lnTo>
                  <a:close/>
                </a:path>
              </a:pathLst>
            </a:custGeom>
            <a:solidFill>
              <a:srgbClr val="E2F98C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17706" y="617706"/>
            <a:ext cx="17021137" cy="1372672"/>
            <a:chOff x="0" y="0"/>
            <a:chExt cx="22694849" cy="183023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694850" cy="1830225"/>
            </a:xfrm>
            <a:custGeom>
              <a:avLst/>
              <a:gdLst/>
              <a:ahLst/>
              <a:cxnLst/>
              <a:rect r="r" b="b" t="t" l="l"/>
              <a:pathLst>
                <a:path h="1830225" w="22694850">
                  <a:moveTo>
                    <a:pt x="0" y="0"/>
                  </a:moveTo>
                  <a:lnTo>
                    <a:pt x="22694850" y="0"/>
                  </a:lnTo>
                  <a:lnTo>
                    <a:pt x="22694850" y="1830225"/>
                  </a:lnTo>
                  <a:lnTo>
                    <a:pt x="0" y="183022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1614" r="0" b="-191615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9050"/>
              <a:ext cx="22694849" cy="18492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043"/>
                </a:lnSpc>
              </a:pPr>
              <a:r>
                <a:rPr lang="en-US" sz="4203" b="true">
                  <a:solidFill>
                    <a:srgbClr val="141414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DEMO · VISTA PRINCIPAL</a:t>
              </a: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761838" y="2152307"/>
            <a:ext cx="16115167" cy="7412977"/>
          </a:xfrm>
          <a:custGeom>
            <a:avLst/>
            <a:gdLst/>
            <a:ahLst/>
            <a:cxnLst/>
            <a:rect r="r" b="b" t="t" l="l"/>
            <a:pathLst>
              <a:path h="7412977" w="16115167">
                <a:moveTo>
                  <a:pt x="0" y="0"/>
                </a:moveTo>
                <a:lnTo>
                  <a:pt x="16115167" y="0"/>
                </a:lnTo>
                <a:lnTo>
                  <a:pt x="16115167" y="7412977"/>
                </a:lnTo>
                <a:lnTo>
                  <a:pt x="0" y="74129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1070686" y="104489"/>
            <a:ext cx="2745343" cy="4308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141414"/>
                </a:solidFill>
                <a:latin typeface="Arial Bold"/>
                <a:ea typeface="Arial Bold"/>
                <a:cs typeface="Arial Bold"/>
                <a:sym typeface="Arial Bold"/>
              </a:rPr>
              <a:t>VIZU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7021137" y="9658293"/>
            <a:ext cx="686333" cy="4308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1"/>
              </a:lnSpc>
            </a:pPr>
            <a:r>
              <a:rPr lang="en-US" sz="1501">
                <a:solidFill>
                  <a:srgbClr val="4A4A4A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617706"/>
            <a:chOff x="0" y="0"/>
            <a:chExt cx="24402453" cy="82360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2414" cy="823595"/>
            </a:xfrm>
            <a:custGeom>
              <a:avLst/>
              <a:gdLst/>
              <a:ahLst/>
              <a:cxnLst/>
              <a:rect r="r" b="b" t="t" l="l"/>
              <a:pathLst>
                <a:path h="823595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823595"/>
                  </a:lnTo>
                  <a:lnTo>
                    <a:pt x="0" y="823595"/>
                  </a:lnTo>
                  <a:close/>
                </a:path>
              </a:pathLst>
            </a:custGeom>
            <a:solidFill>
              <a:srgbClr val="E7E3FB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17706" y="164725"/>
            <a:ext cx="288265" cy="288265"/>
            <a:chOff x="0" y="0"/>
            <a:chExt cx="384353" cy="38435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84302" cy="384302"/>
            </a:xfrm>
            <a:custGeom>
              <a:avLst/>
              <a:gdLst/>
              <a:ahLst/>
              <a:cxnLst/>
              <a:rect r="r" b="b" t="t" l="l"/>
              <a:pathLst>
                <a:path h="384302" w="384302">
                  <a:moveTo>
                    <a:pt x="0" y="54864"/>
                  </a:moveTo>
                  <a:cubicBezTo>
                    <a:pt x="0" y="24638"/>
                    <a:pt x="24638" y="0"/>
                    <a:pt x="54864" y="0"/>
                  </a:cubicBezTo>
                  <a:lnTo>
                    <a:pt x="329438" y="0"/>
                  </a:lnTo>
                  <a:cubicBezTo>
                    <a:pt x="359791" y="0"/>
                    <a:pt x="384302" y="24638"/>
                    <a:pt x="384302" y="54864"/>
                  </a:cubicBezTo>
                  <a:lnTo>
                    <a:pt x="384302" y="329438"/>
                  </a:lnTo>
                  <a:cubicBezTo>
                    <a:pt x="384302" y="359791"/>
                    <a:pt x="359664" y="384302"/>
                    <a:pt x="329438" y="384302"/>
                  </a:cubicBezTo>
                  <a:lnTo>
                    <a:pt x="54864" y="384302"/>
                  </a:lnTo>
                  <a:cubicBezTo>
                    <a:pt x="24638" y="384302"/>
                    <a:pt x="0" y="359791"/>
                    <a:pt x="0" y="329438"/>
                  </a:cubicBezTo>
                  <a:close/>
                </a:path>
              </a:pathLst>
            </a:custGeom>
            <a:solidFill>
              <a:srgbClr val="141414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1070686" y="104489"/>
            <a:ext cx="2745343" cy="4308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141414"/>
                </a:solidFill>
                <a:latin typeface="Arial Bold"/>
                <a:ea typeface="Arial Bold"/>
                <a:cs typeface="Arial Bold"/>
                <a:sym typeface="Arial Bold"/>
              </a:rPr>
              <a:t>VIZU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0" y="617706"/>
            <a:ext cx="18301840" cy="1372676"/>
            <a:chOff x="0" y="0"/>
            <a:chExt cx="24402453" cy="1830235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4402414" cy="1830197"/>
            </a:xfrm>
            <a:custGeom>
              <a:avLst/>
              <a:gdLst/>
              <a:ahLst/>
              <a:cxnLst/>
              <a:rect r="r" b="b" t="t" l="l"/>
              <a:pathLst>
                <a:path h="1830197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830197"/>
                  </a:lnTo>
                  <a:lnTo>
                    <a:pt x="0" y="1830197"/>
                  </a:lnTo>
                  <a:close/>
                </a:path>
              </a:pathLst>
            </a:custGeom>
            <a:solidFill>
              <a:srgbClr val="E2F98C"/>
            </a:solidFill>
          </p:spPr>
        </p:sp>
      </p:grpSp>
      <p:grpSp>
        <p:nvGrpSpPr>
          <p:cNvPr name="Group 9" id="9"/>
          <p:cNvGrpSpPr/>
          <p:nvPr/>
        </p:nvGrpSpPr>
        <p:grpSpPr>
          <a:xfrm rot="0">
            <a:off x="617706" y="617706"/>
            <a:ext cx="17021137" cy="1372676"/>
            <a:chOff x="0" y="0"/>
            <a:chExt cx="22694849" cy="183023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2694850" cy="1830230"/>
            </a:xfrm>
            <a:custGeom>
              <a:avLst/>
              <a:gdLst/>
              <a:ahLst/>
              <a:cxnLst/>
              <a:rect r="r" b="b" t="t" l="l"/>
              <a:pathLst>
                <a:path h="1830230" w="22694850">
                  <a:moveTo>
                    <a:pt x="0" y="0"/>
                  </a:moveTo>
                  <a:lnTo>
                    <a:pt x="22694850" y="0"/>
                  </a:lnTo>
                  <a:lnTo>
                    <a:pt x="22694850" y="1830230"/>
                  </a:lnTo>
                  <a:lnTo>
                    <a:pt x="0" y="183023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1614" r="0" b="-191614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19050"/>
              <a:ext cx="22694849" cy="18492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043"/>
                </a:lnSpc>
              </a:pPr>
              <a:r>
                <a:rPr lang="en-US" sz="4203" b="true">
                  <a:solidFill>
                    <a:srgbClr val="141414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DECISIONES DE DISEÑO Y ALTERNATIVAS</a:t>
              </a:r>
            </a:p>
          </p:txBody>
        </p:sp>
      </p:grpSp>
      <p:graphicFrame>
        <p:nvGraphicFramePr>
          <p:cNvPr name="Table 12" id="12"/>
          <p:cNvGraphicFramePr>
            <a:graphicFrameLocks noGrp="true"/>
          </p:cNvGraphicFramePr>
          <p:nvPr/>
        </p:nvGraphicFramePr>
        <p:xfrm>
          <a:off x="617706" y="2152307"/>
          <a:ext cx="16891496" cy="7796080"/>
        </p:xfrm>
        <a:graphic>
          <a:graphicData uri="http://schemas.openxmlformats.org/drawingml/2006/table">
            <a:tbl>
              <a:tblPr/>
              <a:tblGrid>
                <a:gridCol w="5344261"/>
                <a:gridCol w="5957628"/>
                <a:gridCol w="5589608"/>
              </a:tblGrid>
              <a:tr h="600809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1"/>
                        </a:lnSpc>
                        <a:defRPr/>
                      </a:pPr>
                      <a:r>
                        <a:rPr lang="en-US" sz="1951" b="true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Decidimos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1"/>
                        </a:lnSpc>
                        <a:defRPr/>
                      </a:pPr>
                      <a:r>
                        <a:rPr lang="en-US" sz="1951" b="true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Por qué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1"/>
                        </a:lnSpc>
                        <a:defRPr/>
                      </a:pPr>
                      <a:r>
                        <a:rPr lang="en-US" sz="1951" b="true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Alternativa y por qué no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102789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1"/>
                        </a:lnSpc>
                        <a:defRPr/>
                      </a:pPr>
                      <a:r>
                        <a:rPr lang="en-US" sz="1951" b="true">
                          <a:solidFill>
                            <a:srgbClr val="141414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Source como filtro de primer nivel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1"/>
                        </a:lnSpc>
                        <a:defRPr/>
                      </a:pPr>
                      <a:r>
                        <a:rPr lang="en-US" sz="1951">
                          <a:solidFill>
                            <a:srgbClr val="14141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Cada fuente etiqueta la severidad con su propio criterio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1"/>
                        </a:lnSpc>
                        <a:defRPr/>
                      </a:pPr>
                      <a:r>
                        <a:rPr lang="en-US" sz="1951">
                          <a:solidFill>
                            <a:srgbClr val="14141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Juntar todas las fuentes: conclusiones engañosas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2789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1"/>
                        </a:lnSpc>
                        <a:defRPr/>
                      </a:pPr>
                      <a:r>
                        <a:rPr lang="en-US" sz="1951" b="true">
                          <a:solidFill>
                            <a:srgbClr val="141414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Mapa por proporción severidad ≥ 3 / total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1"/>
                        </a:lnSpc>
                        <a:defRPr/>
                      </a:pPr>
                      <a:r>
                        <a:rPr lang="en-US" sz="1951">
                          <a:solidFill>
                            <a:srgbClr val="14141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Permite c</a:t>
                      </a:r>
                      <a:r>
                        <a:rPr lang="en-US" sz="1951">
                          <a:solidFill>
                            <a:srgbClr val="14141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omparar áreas considerando las diferencias entre fuentes y años.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1"/>
                        </a:lnSpc>
                        <a:defRPr/>
                      </a:pPr>
                      <a:r>
                        <a:rPr lang="en-US" sz="1951">
                          <a:solidFill>
                            <a:srgbClr val="14141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Conteo absoluto: destacaría a los estados con más registros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2789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1"/>
                        </a:lnSpc>
                        <a:defRPr/>
                      </a:pPr>
                      <a:r>
                        <a:rPr lang="en-US" sz="1951" b="true">
                          <a:solidFill>
                            <a:srgbClr val="141414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Vistas coordinadas: mapa, temporal y perfil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1"/>
                        </a:lnSpc>
                        <a:defRPr/>
                      </a:pPr>
                      <a:r>
                        <a:rPr lang="en-US" sz="1951">
                          <a:solidFill>
                            <a:srgbClr val="14141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Permiten explor</a:t>
                      </a:r>
                      <a:r>
                        <a:rPr lang="en-US" sz="1951">
                          <a:solidFill>
                            <a:srgbClr val="14141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ar los accidentes manteniendo el contexto geográfico y temporal.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1"/>
                        </a:lnSpc>
                        <a:defRPr/>
                      </a:pPr>
                      <a:r>
                        <a:rPr lang="en-US" sz="1951">
                          <a:solidFill>
                            <a:srgbClr val="14141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Gráficos independientes: dificultan identificar qué filtros están aplicados.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2789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1"/>
                        </a:lnSpc>
                        <a:defRPr/>
                      </a:pPr>
                      <a:r>
                        <a:rPr lang="en-US" sz="1951" b="true">
                          <a:solidFill>
                            <a:srgbClr val="141414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Temporal Brushing &amp; Linking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341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951" strike="noStrike" u="none">
                          <a:solidFill>
                            <a:srgbClr val="14141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Facilita seleccionar periodos y actualizar las visualizaciones simultáneamente.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1"/>
                        </a:lnSpc>
                        <a:defRPr/>
                      </a:pPr>
                      <a:r>
                        <a:rPr lang="en-US" sz="1951">
                          <a:solidFill>
                            <a:srgbClr val="14141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Selector de año: limita el análisis a intervalos predefinidos.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2789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1"/>
                        </a:lnSpc>
                        <a:defRPr/>
                      </a:pPr>
                      <a:r>
                        <a:rPr lang="en-US" sz="1951" b="true">
                          <a:solidFill>
                            <a:srgbClr val="141414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Muestra fija por área y tope de 2 500 puntos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1"/>
                        </a:lnSpc>
                        <a:defRPr/>
                      </a:pPr>
                      <a:r>
                        <a:rPr lang="en-US" sz="1951">
                          <a:solidFill>
                            <a:srgbClr val="14141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 navegador no dibuja 7,7 M de puntos; los totales salen del conjunto completo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1"/>
                        </a:lnSpc>
                        <a:defRPr/>
                      </a:pPr>
                      <a:r>
                        <a:rPr lang="en-US" sz="1951">
                          <a:solidFill>
                            <a:srgbClr val="14141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Solo agregados: se pierde el detalle de calle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2789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1"/>
                        </a:lnSpc>
                        <a:defRPr/>
                      </a:pPr>
                      <a:r>
                        <a:rPr lang="en-US" sz="1951" b="true">
                          <a:solidFill>
                            <a:srgbClr val="141414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Cleveland Dot Plot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1"/>
                        </a:lnSpc>
                        <a:defRPr/>
                      </a:pPr>
                      <a:r>
                        <a:rPr lang="en-US" sz="1951">
                          <a:solidFill>
                            <a:srgbClr val="14141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</a:t>
                      </a:r>
                      <a:r>
                        <a:rPr lang="en-US" sz="1951">
                          <a:solidFill>
                            <a:srgbClr val="14141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arar índices por infraestructura y clima.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1"/>
                        </a:lnSpc>
                        <a:defRPr/>
                      </a:pPr>
                      <a:r>
                        <a:rPr lang="en-US" sz="1951">
                          <a:solidFill>
                            <a:srgbClr val="14141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Barras agrupadas: mayor saturación visual.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2789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1"/>
                        </a:lnSpc>
                        <a:defRPr/>
                      </a:pPr>
                      <a:r>
                        <a:rPr lang="en-US" sz="1951" b="true">
                          <a:solidFill>
                            <a:srgbClr val="141414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H</a:t>
                      </a:r>
                      <a:r>
                        <a:rPr lang="en-US" sz="1951" b="true">
                          <a:solidFill>
                            <a:srgbClr val="141414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eatmap de día y hora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1"/>
                        </a:lnSpc>
                        <a:defRPr/>
                      </a:pPr>
                      <a:r>
                        <a:rPr lang="en-US" sz="1951">
                          <a:solidFill>
                            <a:srgbClr val="14141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</a:t>
                      </a:r>
                      <a:r>
                        <a:rPr lang="en-US" sz="1951">
                          <a:solidFill>
                            <a:srgbClr val="14141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dentificar patrones temporales y filtrar horas.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1"/>
                        </a:lnSpc>
                        <a:defRPr/>
                      </a:pPr>
                      <a:r>
                        <a:rPr lang="en-US" sz="1951">
                          <a:solidFill>
                            <a:srgbClr val="14141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  <a:r>
                        <a:rPr lang="en-US" sz="1951">
                          <a:solidFill>
                            <a:srgbClr val="14141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arras y slider: menor integración temporal.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name="TextBox 13" id="13"/>
          <p:cNvSpPr txBox="true"/>
          <p:nvPr/>
        </p:nvSpPr>
        <p:spPr>
          <a:xfrm rot="0">
            <a:off x="17021137" y="9658293"/>
            <a:ext cx="686333" cy="4308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1"/>
              </a:lnSpc>
            </a:pPr>
            <a:r>
              <a:rPr lang="en-US" sz="1501">
                <a:solidFill>
                  <a:srgbClr val="4A4A4A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617706"/>
            <a:chOff x="0" y="0"/>
            <a:chExt cx="24402453" cy="82360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2414" cy="823595"/>
            </a:xfrm>
            <a:custGeom>
              <a:avLst/>
              <a:gdLst/>
              <a:ahLst/>
              <a:cxnLst/>
              <a:rect r="r" b="b" t="t" l="l"/>
              <a:pathLst>
                <a:path h="823595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823595"/>
                  </a:lnTo>
                  <a:lnTo>
                    <a:pt x="0" y="823595"/>
                  </a:lnTo>
                  <a:close/>
                </a:path>
              </a:pathLst>
            </a:custGeom>
            <a:solidFill>
              <a:srgbClr val="E7E3FB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17706" y="164725"/>
            <a:ext cx="288265" cy="288265"/>
            <a:chOff x="0" y="0"/>
            <a:chExt cx="384353" cy="38435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84302" cy="384302"/>
            </a:xfrm>
            <a:custGeom>
              <a:avLst/>
              <a:gdLst/>
              <a:ahLst/>
              <a:cxnLst/>
              <a:rect r="r" b="b" t="t" l="l"/>
              <a:pathLst>
                <a:path h="384302" w="384302">
                  <a:moveTo>
                    <a:pt x="0" y="54864"/>
                  </a:moveTo>
                  <a:cubicBezTo>
                    <a:pt x="0" y="24638"/>
                    <a:pt x="24638" y="0"/>
                    <a:pt x="54864" y="0"/>
                  </a:cubicBezTo>
                  <a:lnTo>
                    <a:pt x="329438" y="0"/>
                  </a:lnTo>
                  <a:cubicBezTo>
                    <a:pt x="359791" y="0"/>
                    <a:pt x="384302" y="24638"/>
                    <a:pt x="384302" y="54864"/>
                  </a:cubicBezTo>
                  <a:lnTo>
                    <a:pt x="384302" y="329438"/>
                  </a:lnTo>
                  <a:cubicBezTo>
                    <a:pt x="384302" y="359791"/>
                    <a:pt x="359664" y="384302"/>
                    <a:pt x="329438" y="384302"/>
                  </a:cubicBezTo>
                  <a:lnTo>
                    <a:pt x="54864" y="384302"/>
                  </a:lnTo>
                  <a:cubicBezTo>
                    <a:pt x="24638" y="384302"/>
                    <a:pt x="0" y="359791"/>
                    <a:pt x="0" y="329438"/>
                  </a:cubicBezTo>
                  <a:close/>
                </a:path>
              </a:pathLst>
            </a:custGeom>
            <a:solidFill>
              <a:srgbClr val="141414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1070686" y="104489"/>
            <a:ext cx="2745343" cy="4308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141414"/>
                </a:solidFill>
                <a:latin typeface="Arial Bold"/>
                <a:ea typeface="Arial Bold"/>
                <a:cs typeface="Arial Bold"/>
                <a:sym typeface="Arial Bold"/>
              </a:rPr>
              <a:t>VIZU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0" y="617706"/>
            <a:ext cx="18301840" cy="1372676"/>
            <a:chOff x="0" y="0"/>
            <a:chExt cx="24402453" cy="1830235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4402414" cy="1830197"/>
            </a:xfrm>
            <a:custGeom>
              <a:avLst/>
              <a:gdLst/>
              <a:ahLst/>
              <a:cxnLst/>
              <a:rect r="r" b="b" t="t" l="l"/>
              <a:pathLst>
                <a:path h="1830197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830197"/>
                  </a:lnTo>
                  <a:lnTo>
                    <a:pt x="0" y="1830197"/>
                  </a:lnTo>
                  <a:close/>
                </a:path>
              </a:pathLst>
            </a:custGeom>
            <a:solidFill>
              <a:srgbClr val="E2F98C"/>
            </a:solidFill>
          </p:spPr>
        </p:sp>
      </p:grpSp>
      <p:grpSp>
        <p:nvGrpSpPr>
          <p:cNvPr name="Group 9" id="9"/>
          <p:cNvGrpSpPr/>
          <p:nvPr/>
        </p:nvGrpSpPr>
        <p:grpSpPr>
          <a:xfrm rot="0">
            <a:off x="617706" y="617706"/>
            <a:ext cx="17021137" cy="1263992"/>
            <a:chOff x="0" y="0"/>
            <a:chExt cx="22694849" cy="1685322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2694850" cy="1685317"/>
            </a:xfrm>
            <a:custGeom>
              <a:avLst/>
              <a:gdLst/>
              <a:ahLst/>
              <a:cxnLst/>
              <a:rect r="r" b="b" t="t" l="l"/>
              <a:pathLst>
                <a:path h="1685317" w="22694850">
                  <a:moveTo>
                    <a:pt x="0" y="0"/>
                  </a:moveTo>
                  <a:lnTo>
                    <a:pt x="22694850" y="0"/>
                  </a:lnTo>
                  <a:lnTo>
                    <a:pt x="22694850" y="1685317"/>
                  </a:lnTo>
                  <a:lnTo>
                    <a:pt x="0" y="168531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8090" r="0" b="-216689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19050"/>
              <a:ext cx="22694849" cy="17043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043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17021137" y="9658293"/>
            <a:ext cx="686333" cy="4308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1"/>
              </a:lnSpc>
            </a:pPr>
            <a:r>
              <a:rPr lang="en-US" sz="1501">
                <a:solidFill>
                  <a:srgbClr val="4A4A4A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graphicFrame>
        <p:nvGraphicFramePr>
          <p:cNvPr name="Table 13" id="13"/>
          <p:cNvGraphicFramePr>
            <a:graphicFrameLocks noGrp="true"/>
          </p:cNvGraphicFramePr>
          <p:nvPr/>
        </p:nvGraphicFramePr>
        <p:xfrm>
          <a:off x="686336" y="2333543"/>
          <a:ext cx="16891496" cy="5275169"/>
        </p:xfrm>
        <a:graphic>
          <a:graphicData uri="http://schemas.openxmlformats.org/drawingml/2006/table">
            <a:tbl>
              <a:tblPr/>
              <a:tblGrid>
                <a:gridCol w="8464594"/>
                <a:gridCol w="8426902"/>
              </a:tblGrid>
              <a:tr h="696583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879"/>
                        </a:lnSpc>
                        <a:defRPr/>
                      </a:pPr>
                      <a:r>
                        <a:rPr lang="en-US" sz="2400" b="true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OBSERVACIÓN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879"/>
                        </a:lnSpc>
                        <a:defRPr/>
                      </a:pPr>
                      <a:r>
                        <a:rPr lang="en-US" sz="2400" b="true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CORRECCIÓN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1070694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879"/>
                        </a:lnSpc>
                        <a:defRPr/>
                      </a:pPr>
                      <a:r>
                        <a:rPr lang="en-US" sz="2400" b="true">
                          <a:solidFill>
                            <a:srgbClr val="141414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Limita</a:t>
                      </a:r>
                      <a:r>
                        <a:rPr lang="en-US" sz="2400" b="true">
                          <a:solidFill>
                            <a:srgbClr val="141414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r el lazo 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14141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 lazo esta limitado a 5km a la redonda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70694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879"/>
                        </a:lnSpc>
                        <a:defRPr/>
                      </a:pPr>
                      <a:r>
                        <a:rPr lang="en-US" sz="2400" b="true">
                          <a:solidFill>
                            <a:srgbClr val="141414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Mejorar la visualizacion de los condados 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14141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visualizacion del mapa optimizado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366503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879"/>
                        </a:lnSpc>
                        <a:defRPr/>
                      </a:pPr>
                      <a:r>
                        <a:rPr lang="en-US" sz="2400" b="true">
                          <a:solidFill>
                            <a:srgbClr val="141414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Falta incorporar una línea de tiempo interactiva que permita explorar los accidentes por periodos.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14141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agregó la visualizacion de Timeline con Brush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70694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879"/>
                        </a:lnSpc>
                        <a:defRPr/>
                      </a:pPr>
                      <a:r>
                        <a:rPr lang="en-US" sz="2400" b="true">
                          <a:solidFill>
                            <a:srgbClr val="141414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Agregar colores por tramos a los caminos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14141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Agregado en la vizualiacion del mapa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DAHZQwS9Qm4</dc:identifier>
  <dcterms:modified xsi:type="dcterms:W3CDTF">2011-08-01T06:04:30Z</dcterms:modified>
  <cp:revision>1</cp:revision>
  <dc:title>Entrega5</dc:title>
</cp:coreProperties>
</file>